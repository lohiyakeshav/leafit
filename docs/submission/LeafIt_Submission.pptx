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jpeg" Extension="jpg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?><Relationships xmlns="http://schemas.openxmlformats.org/package/2006/relationships"><Relationship Id="rId22" Type="http://schemas.openxmlformats.org/officeDocument/2006/relationships/font" Target="fonts/GoogleSansFlexMedium-regular.fntdata"/><Relationship Id="rId21" Type="http://schemas.openxmlformats.org/officeDocument/2006/relationships/slide" Target="slides/slide16.xml"/><Relationship Id="rId24" Type="http://schemas.openxmlformats.org/officeDocument/2006/relationships/font" Target="fonts/GoogleSansFlex-regular.fntdata"/><Relationship Id="rId23" Type="http://schemas.openxmlformats.org/officeDocument/2006/relationships/font" Target="fonts/GoogleSansFlexMedium-bold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GoogleSansFlexSemiBold-regular.fntdata"/><Relationship Id="rId25" Type="http://schemas.openxmlformats.org/officeDocument/2006/relationships/font" Target="fonts/GoogleSansFlex-bold.fntdata"/><Relationship Id="rId27" Type="http://schemas.openxmlformats.org/officeDocument/2006/relationships/font" Target="fonts/GoogleSansFlexSemiBold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leafit_studio_plan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leafit_home.jpg"/><Relationship Id="rId6" Type="http://schemas.openxmlformats.org/officeDocument/2006/relationships/image" Target="../media/leafit_explore.jpg"/><Relationship Id="rId7" Type="http://schemas.openxmlformats.org/officeDocument/2006/relationships/image" Target="../media/leafit_ai_result.jpg"/><Relationship Id="rId8" Type="http://schemas.openxmlformats.org/officeDocument/2006/relationships/image" Target="../media/leafit_review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leafit_studio_plan.jpg"/><Relationship Id="rId6" Type="http://schemas.openxmlformats.org/officeDocument/2006/relationships/image" Target="../media/leafit_ai_result.jp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hyperlink" Target="https://github.com/lohiyakeshav/LeafIt" TargetMode="External"/><Relationship Id="rId6" Type="http://schemas.openxmlformats.org/officeDocument/2006/relationships/hyperlink" Target="https://leafit.cloud.run" TargetMode="Externa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4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Friendly Neighbourhood Devs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Keshav Lohiya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Sustainability &amp; Social Impact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914400" indent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Build an AI-powered solution that addresses a meaningful environmental or societal challenge. Solutions may focus on improving resource efficiency, increasing accessibility, strengthening resilience, supporting communities, or enabling more informed and sustainable decision-making.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01" name="Text 1001"/>
          <p:cNvSpPr txBox="1"/>
          <p:nvPr/>
        </p:nvSpPr>
        <p:spPr>
          <a:xfrm>
            <a:off x="365760" y="1188720"/>
            <a:ext cx="4297680" cy="3685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LeafIt is a heat-action planner for city neighbourhoods. </a:t>
            </a:r>
            <a:r>
              <a:rPr lang="en-GB" sz="120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Draw an area on a Google satellite map and LeafIt builds a digital twin of it from real satellite and open data. A Gemini agent on Vertex AI tests where trees, cool roofs and shaded bus stops help people most within the budget, then hands back a costed plan, a funding proposal and nearby vendors to quote it.</a:t>
            </a:r>
          </a:p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50" dirty="0">
                <a:solidFill>
                  <a:srgbClr val="18803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WHO IT IS FOR</a:t>
            </a:r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Residents' welfare associations, ward officers, NGOs and CSR teams who spend money on cooling but cannot test a plan before buying it.</a:t>
            </a:r>
          </a:p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50" dirty="0">
                <a:solidFill>
                  <a:srgbClr val="18803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WHY THE NUMBERS CAN BE TRUSTED</a:t>
            </a:r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Every figure comes from a simulator whose coefficients cite published studies. Gemini chooses between options and explains them; every number it writes is checked against the simulator.</a:t>
            </a:r>
          </a:p>
        </p:txBody>
      </p:sp>
      <p:pic>
        <p:nvPicPr>
          <p:cNvPr id="1002" name="Picture 1002" descr="LeafIt studio showing a Gemini plan of 466 trees and 69 cool roofs on Lajpat Nagar, New Delhi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1207008"/>
            <a:ext cx="3931920" cy="245745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003" name="Text 1003"/>
          <p:cNvSpPr txBox="1"/>
          <p:nvPr/>
        </p:nvSpPr>
        <p:spPr>
          <a:xfrm>
            <a:off x="4846320" y="3749040"/>
            <a:ext cx="3931920" cy="11155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REAL RUN, </a:t>
            </a:r>
            <a:r>
              <a:rPr lang="en-GB" sz="9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Lajpat Nagar Central Market, New Delhi (0.49 km²)</a:t>
            </a:r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Gemini's chosen plan for ₹20 lakh: 466 trees and 69 cool roofs. From the twin: 10,307 residents (WorldPop), 25% existing tree canopy, outdoor surfaces 38.7–44.0 °C (Landsat 8/9, Apr–Jun 2023–25).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1004" name="Text 1004"/>
          <p:cNvSpPr txBox="1"/>
          <p:nvPr/>
        </p:nvSpPr>
        <p:spPr>
          <a:xfrm>
            <a:off x="365760" y="1234440"/>
            <a:ext cx="2694432" cy="3108960"/>
          </a:xfrm>
          <a:prstGeom prst="roundRect">
            <a:avLst>
              <a:gd name="adj" fmla="val 7000"/>
            </a:avLst>
          </a:prstGeom>
          <a:solidFill>
            <a:srgbClr val="F1F3F4"/>
          </a:solidFill>
          <a:ln>
            <a:noFill/>
          </a:ln>
        </p:spPr>
        <p:txBody>
          <a:bodyPr wrap="square" lIns="146304" tIns="146304" rIns="146304" bIns="146304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How different is it from any of the other existing ideas?</a:t>
            </a:r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Heat maps and dashboards show where a city is hot. LeafIt answers what to do about it, block by block: which mix of trees, cool roofs and shelters, where, for whom, and at what cost per degree.</a:t>
            </a:r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It starts from the shade already there (1 m canopy height, plus a 150 m ring around the area), so new trees are not wasted where shade already exists.</a:t>
            </a:r>
          </a:p>
        </p:txBody>
      </p:sp>
      <p:sp>
        <p:nvSpPr>
          <p:cNvPr id="1005" name="Text 1005"/>
          <p:cNvSpPr txBox="1"/>
          <p:nvPr/>
        </p:nvSpPr>
        <p:spPr>
          <a:xfrm>
            <a:off x="3224784" y="1234440"/>
            <a:ext cx="2694432" cy="3108960"/>
          </a:xfrm>
          <a:prstGeom prst="roundRect">
            <a:avLst>
              <a:gd name="adj" fmla="val 7000"/>
            </a:avLst>
          </a:prstGeom>
          <a:solidFill>
            <a:srgbClr val="F1F3F4"/>
          </a:solidFill>
          <a:ln>
            <a:noFill/>
          </a:ln>
        </p:spPr>
        <p:txBody>
          <a:bodyPr wrap="square" lIns="146304" tIns="146304" rIns="146304" bIns="146304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How will it be able to solve the problem?</a:t>
            </a:r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It turns guesswork into a tested, costed plan in one flow:</a:t>
            </a:r>
          </a:p>
          <a:p>
            <a:pPr marL="171450" indent="-171450" algn="l">
              <a:spcBef>
                <a:spcPts val="0"/>
              </a:spcBef>
              <a:spcAft>
                <a:spcPts val="300"/>
              </a:spcAft>
              <a:buClr>
                <a:srgbClr val="5F6368"/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Brief Gemini in plain words, with a budget</a:t>
            </a:r>
          </a:p>
          <a:p>
            <a:pPr marL="171450" indent="-171450" algn="l">
              <a:spcBef>
                <a:spcPts val="0"/>
              </a:spcBef>
              <a:spcAft>
                <a:spcPts val="300"/>
              </a:spcAft>
              <a:buClr>
                <a:srgbClr val="5F6368"/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runs 2–4 strategies on the simulator and checks each one</a:t>
            </a:r>
          </a:p>
          <a:p>
            <a:pPr marL="171450" indent="-171450" algn="l">
              <a:spcBef>
                <a:spcPts val="0"/>
              </a:spcBef>
              <a:spcAft>
                <a:spcPts val="300"/>
              </a:spcAft>
              <a:buClr>
                <a:srgbClr val="5F6368"/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Code refuses a plan with more than 10% of its trees in existing shade</a:t>
            </a:r>
          </a:p>
          <a:p>
            <a:pPr marL="171450" indent="-171450" algn="l">
              <a:spcBef>
                <a:spcPts val="0"/>
              </a:spcBef>
              <a:spcAft>
                <a:spcPts val="0"/>
              </a:spcAft>
              <a:buClr>
                <a:srgbClr val="5F6368"/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plan leaves with a bill of materials by species, a funding proposal and nurseries and contractors within 25 km</a:t>
            </a:r>
          </a:p>
        </p:txBody>
      </p:sp>
      <p:sp>
        <p:nvSpPr>
          <p:cNvPr id="1006" name="Text 1006"/>
          <p:cNvSpPr txBox="1"/>
          <p:nvPr/>
        </p:nvSpPr>
        <p:spPr>
          <a:xfrm>
            <a:off x="6083808" y="1234440"/>
            <a:ext cx="2694432" cy="3108960"/>
          </a:xfrm>
          <a:prstGeom prst="roundRect">
            <a:avLst>
              <a:gd name="adj" fmla="val 7000"/>
            </a:avLst>
          </a:prstGeom>
          <a:solidFill>
            <a:srgbClr val="F1F3F4"/>
          </a:solidFill>
          <a:ln>
            <a:noFill/>
          </a:ln>
        </p:spPr>
        <p:txBody>
          <a:bodyPr wrap="square" lIns="146304" tIns="146304" rIns="146304" bIns="146304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USP of the proposed solution</a:t>
            </a:r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GB" sz="10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Honest numbers. </a:t>
            </a:r>
            <a:r>
              <a:rPr lang="en-GB" sz="105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Cooling is shown as a low–high range from two published studies, every coefficient is cited in the app, and each figure Gemini writes is matched against the simulator.</a:t>
            </a:r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GB" sz="10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AI decides, code calculates. </a:t>
            </a:r>
            <a:r>
              <a:rPr lang="en-GB" sz="105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weighs what no single score can: street cooling, cooler homes, shade for people waiting.</a:t>
            </a:r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Map to money. </a:t>
            </a:r>
            <a:r>
              <a:rPr lang="en-GB" sz="105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One session ends in a funding proposal and real vendor quotes.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07" name="Text 1007"/>
          <p:cNvSpPr txBox="1"/>
          <p:nvPr/>
        </p:nvSpPr>
        <p:spPr>
          <a:xfrm>
            <a:off x="365760" y="1188720"/>
            <a:ext cx="2000250" cy="1773936"/>
          </a:xfrm>
          <a:prstGeom prst="roundRect">
            <a:avLst>
              <a:gd name="adj" fmla="val 7000"/>
            </a:avLst>
          </a:prstGeom>
          <a:solidFill>
            <a:srgbClr val="F1F3F4"/>
          </a:solidFill>
          <a:ln>
            <a:noFill/>
          </a:ln>
        </p:spPr>
        <p:txBody>
          <a:bodyPr wrap="square" lIns="128016" tIns="128016" rIns="128016" bIns="128016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950" dirty="0">
                <a:solidFill>
                  <a:srgbClr val="18803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01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Digital twin from real data</a:t>
            </a:r>
          </a:p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Landsat 8/9 heat, Open Buildings heights, Meta/WRI 1 m canopy, WorldPop residents by age, OSM roads, Google Places and Air Quality.</a:t>
            </a:r>
          </a:p>
        </p:txBody>
      </p:sp>
      <p:sp>
        <p:nvSpPr>
          <p:cNvPr id="1008" name="Text 1008"/>
          <p:cNvSpPr txBox="1"/>
          <p:nvPr/>
        </p:nvSpPr>
        <p:spPr>
          <a:xfrm>
            <a:off x="2503170" y="1188720"/>
            <a:ext cx="2000250" cy="1773936"/>
          </a:xfrm>
          <a:prstGeom prst="roundRect">
            <a:avLst>
              <a:gd name="adj" fmla="val 7000"/>
            </a:avLst>
          </a:prstGeom>
          <a:solidFill>
            <a:srgbClr val="F1F3F4"/>
          </a:solidFill>
          <a:ln>
            <a:noFill/>
          </a:ln>
        </p:spPr>
        <p:txBody>
          <a:bodyPr wrap="square" lIns="128016" tIns="128016" rIns="128016" bIns="128016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950" dirty="0">
                <a:solidFill>
                  <a:srgbClr val="18803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02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3D design studio</a:t>
            </a:r>
          </a:p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Place trees, cool roofs and shaded bus stops by hand. The simulator runs in the browser, so every number updates instantly; trees grow in over years 1 to 20.</a:t>
            </a:r>
          </a:p>
        </p:txBody>
      </p:sp>
      <p:sp>
        <p:nvSpPr>
          <p:cNvPr id="1009" name="Text 1009"/>
          <p:cNvSpPr txBox="1"/>
          <p:nvPr/>
        </p:nvSpPr>
        <p:spPr>
          <a:xfrm>
            <a:off x="4640580" y="1188720"/>
            <a:ext cx="2000250" cy="1773936"/>
          </a:xfrm>
          <a:prstGeom prst="roundRect">
            <a:avLst>
              <a:gd name="adj" fmla="val 7000"/>
            </a:avLst>
          </a:prstGeom>
          <a:solidFill>
            <a:srgbClr val="F1F3F4"/>
          </a:solidFill>
          <a:ln>
            <a:noFill/>
          </a:ln>
        </p:spPr>
        <p:txBody>
          <a:bodyPr wrap="square" lIns="128016" tIns="128016" rIns="128016" bIns="128016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950" dirty="0">
                <a:solidFill>
                  <a:srgbClr val="18803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03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Gemini planning agent</a:t>
            </a:r>
          </a:p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 plain-language brief and a budget. Through five function tools Gemini tests 2–4 strategies and explains its choice zone by zone, naming roads, landmarks and species.</a:t>
            </a:r>
          </a:p>
        </p:txBody>
      </p:sp>
      <p:sp>
        <p:nvSpPr>
          <p:cNvPr id="1010" name="Text 1010"/>
          <p:cNvSpPr txBox="1"/>
          <p:nvPr/>
        </p:nvSpPr>
        <p:spPr>
          <a:xfrm>
            <a:off x="6777990" y="1188720"/>
            <a:ext cx="2000250" cy="1773936"/>
          </a:xfrm>
          <a:prstGeom prst="roundRect">
            <a:avLst>
              <a:gd name="adj" fmla="val 7000"/>
            </a:avLst>
          </a:prstGeom>
          <a:solidFill>
            <a:srgbClr val="F1F3F4"/>
          </a:solidFill>
          <a:ln>
            <a:noFill/>
          </a:ln>
        </p:spPr>
        <p:txBody>
          <a:bodyPr wrap="square" lIns="128016" tIns="128016" rIns="128016" bIns="128016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950" dirty="0">
                <a:solidFill>
                  <a:srgbClr val="18803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04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Self-check enforced in code</a:t>
            </a:r>
          </a:p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Budget used, trees wasted in existing shade, zones left out, species mix. A plan that wastes trees in shade cannot be recommended.</a:t>
            </a:r>
          </a:p>
        </p:txBody>
      </p:sp>
      <p:sp>
        <p:nvSpPr>
          <p:cNvPr id="1011" name="Text 1011"/>
          <p:cNvSpPr txBox="1"/>
          <p:nvPr/>
        </p:nvSpPr>
        <p:spPr>
          <a:xfrm>
            <a:off x="365760" y="3099816"/>
            <a:ext cx="2000250" cy="1773936"/>
          </a:xfrm>
          <a:prstGeom prst="roundRect">
            <a:avLst>
              <a:gd name="adj" fmla="val 7000"/>
            </a:avLst>
          </a:prstGeom>
          <a:solidFill>
            <a:srgbClr val="F1F3F4"/>
          </a:solidFill>
          <a:ln>
            <a:noFill/>
          </a:ln>
        </p:spPr>
        <p:txBody>
          <a:bodyPr wrap="square" lIns="128016" tIns="128016" rIns="128016" bIns="128016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950" dirty="0">
                <a:solidFill>
                  <a:srgbClr val="18803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05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Honest numbers</a:t>
            </a:r>
          </a:p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Cooling is shown as a low–high range from published studies. A Method page cites every coefficient; numbers Gemini invents are flagged to the user.</a:t>
            </a:r>
          </a:p>
        </p:txBody>
      </p:sp>
      <p:sp>
        <p:nvSpPr>
          <p:cNvPr id="1012" name="Text 1012"/>
          <p:cNvSpPr txBox="1"/>
          <p:nvPr/>
        </p:nvSpPr>
        <p:spPr>
          <a:xfrm>
            <a:off x="2503170" y="3099816"/>
            <a:ext cx="2000250" cy="1773936"/>
          </a:xfrm>
          <a:prstGeom prst="roundRect">
            <a:avLst>
              <a:gd name="adj" fmla="val 7000"/>
            </a:avLst>
          </a:prstGeom>
          <a:solidFill>
            <a:srgbClr val="F1F3F4"/>
          </a:solidFill>
          <a:ln>
            <a:noFill/>
          </a:ln>
        </p:spPr>
        <p:txBody>
          <a:bodyPr wrap="square" lIns="128016" tIns="128016" rIns="128016" bIns="128016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950" dirty="0">
                <a:solidFill>
                  <a:srgbClr val="18803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06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Equity built in</a:t>
            </a:r>
          </a:p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Cooling where children under 5 and adults over 65 live, residents under cool roofs, and shaded bus stops: who benefits, not only the average.</a:t>
            </a:r>
          </a:p>
        </p:txBody>
      </p:sp>
      <p:sp>
        <p:nvSpPr>
          <p:cNvPr id="1013" name="Text 1013"/>
          <p:cNvSpPr txBox="1"/>
          <p:nvPr/>
        </p:nvSpPr>
        <p:spPr>
          <a:xfrm>
            <a:off x="4640580" y="3099816"/>
            <a:ext cx="2000250" cy="1773936"/>
          </a:xfrm>
          <a:prstGeom prst="roundRect">
            <a:avLst>
              <a:gd name="adj" fmla="val 7000"/>
            </a:avLst>
          </a:prstGeom>
          <a:solidFill>
            <a:srgbClr val="F1F3F4"/>
          </a:solidFill>
          <a:ln>
            <a:noFill/>
          </a:ln>
        </p:spPr>
        <p:txBody>
          <a:bodyPr wrap="square" lIns="128016" tIns="128016" rIns="128016" bIns="128016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950" dirty="0">
                <a:solidFill>
                  <a:srgbClr val="18803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07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Compare and review</a:t>
            </a:r>
          </a:p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Every option Gemini tested lands in a side-by-side comparison. Review sets measured heat today against the plan with a before/after slider.</a:t>
            </a:r>
          </a:p>
        </p:txBody>
      </p:sp>
      <p:sp>
        <p:nvSpPr>
          <p:cNvPr id="1014" name="Text 1014"/>
          <p:cNvSpPr txBox="1"/>
          <p:nvPr/>
        </p:nvSpPr>
        <p:spPr>
          <a:xfrm>
            <a:off x="6777990" y="3099816"/>
            <a:ext cx="2000250" cy="1773936"/>
          </a:xfrm>
          <a:prstGeom prst="roundRect">
            <a:avLst>
              <a:gd name="adj" fmla="val 7000"/>
            </a:avLst>
          </a:prstGeom>
          <a:solidFill>
            <a:srgbClr val="F1F3F4"/>
          </a:solidFill>
          <a:ln>
            <a:noFill/>
          </a:ln>
        </p:spPr>
        <p:txBody>
          <a:bodyPr wrap="square" lIns="128016" tIns="128016" rIns="128016" bIns="128016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950" dirty="0">
                <a:solidFill>
                  <a:srgbClr val="18803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08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Fund and build</a:t>
            </a:r>
          </a:p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 bill of materials by species, a Gemini-drafted funding proposal, and real nurseries and contractors within 25 km with a ready quote message. 14 currencies.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15" name="Text 1015"/>
          <p:cNvSpPr txBox="1"/>
          <p:nvPr/>
        </p:nvSpPr>
        <p:spPr>
          <a:xfrm>
            <a:off x="365760" y="1097280"/>
            <a:ext cx="8412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18803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USER JOURNEY</a:t>
            </a:r>
          </a:p>
        </p:txBody>
      </p:sp>
      <p:sp>
        <p:nvSpPr>
          <p:cNvPr id="1016" name="Text 1016"/>
          <p:cNvSpPr txBox="1"/>
          <p:nvPr/>
        </p:nvSpPr>
        <p:spPr>
          <a:xfrm>
            <a:off x="365760" y="1463040"/>
            <a:ext cx="1219200" cy="960120"/>
          </a:xfrm>
          <a:prstGeom prst="roundRect">
            <a:avLst>
              <a:gd name="adj" fmla="val 7000"/>
            </a:avLst>
          </a:prstGeom>
          <a:solidFill>
            <a:srgbClr val="F1F3F4"/>
          </a:solidFill>
          <a:ln>
            <a:noFill/>
          </a:ln>
        </p:spPr>
        <p:txBody>
          <a:bodyPr wrap="square" lIns="91440" tIns="91440" rIns="91440" bIns="9144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1 · Find</a:t>
            </a:r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Search a place on a Google satellite map</a:t>
            </a:r>
          </a:p>
        </p:txBody>
      </p:sp>
      <p:cxnSp>
        <p:nvCxnSpPr>
          <p:cNvPr id="1017" name="Arrow 1017"/>
          <p:cNvCxnSpPr/>
          <p:nvPr/>
        </p:nvCxnSpPr>
        <p:spPr>
          <a:xfrm>
            <a:off x="1612392" y="1943100"/>
            <a:ext cx="164592" cy="0"/>
          </a:xfrm>
          <a:prstGeom prst="straightConnector1">
            <a:avLst/>
          </a:prstGeom>
          <a:ln w="15875">
            <a:solidFill>
              <a:srgbClr val="5F6368"/>
            </a:solidFill>
            <a:tailEnd type="triangle" w="med" len="med"/>
          </a:ln>
        </p:spPr>
      </p:cxnSp>
      <p:sp>
        <p:nvSpPr>
          <p:cNvPr id="1018" name="Text 1018"/>
          <p:cNvSpPr txBox="1"/>
          <p:nvPr/>
        </p:nvSpPr>
        <p:spPr>
          <a:xfrm>
            <a:off x="1804416" y="1463040"/>
            <a:ext cx="1219200" cy="960120"/>
          </a:xfrm>
          <a:prstGeom prst="roundRect">
            <a:avLst>
              <a:gd name="adj" fmla="val 7000"/>
            </a:avLst>
          </a:prstGeom>
          <a:solidFill>
            <a:srgbClr val="F1F3F4"/>
          </a:solidFill>
          <a:ln>
            <a:noFill/>
          </a:ln>
        </p:spPr>
        <p:txBody>
          <a:bodyPr wrap="square" lIns="91440" tIns="91440" rIns="91440" bIns="9144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2 · Mark</a:t>
            </a:r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Drag a box, 200 m to 1 km²</a:t>
            </a:r>
          </a:p>
        </p:txBody>
      </p:sp>
      <p:cxnSp>
        <p:nvCxnSpPr>
          <p:cNvPr id="1019" name="Arrow 1019"/>
          <p:cNvCxnSpPr/>
          <p:nvPr/>
        </p:nvCxnSpPr>
        <p:spPr>
          <a:xfrm>
            <a:off x="3051048" y="1943100"/>
            <a:ext cx="164592" cy="0"/>
          </a:xfrm>
          <a:prstGeom prst="straightConnector1">
            <a:avLst/>
          </a:prstGeom>
          <a:ln w="15875">
            <a:solidFill>
              <a:srgbClr val="5F6368"/>
            </a:solidFill>
            <a:tailEnd type="triangle" w="med" len="med"/>
          </a:ln>
        </p:spPr>
      </p:cxnSp>
      <p:sp>
        <p:nvSpPr>
          <p:cNvPr id="1020" name="Text 1020"/>
          <p:cNvSpPr txBox="1"/>
          <p:nvPr/>
        </p:nvSpPr>
        <p:spPr>
          <a:xfrm>
            <a:off x="3243072" y="1463040"/>
            <a:ext cx="1219200" cy="960120"/>
          </a:xfrm>
          <a:prstGeom prst="roundRect">
            <a:avLst>
              <a:gd name="adj" fmla="val 7000"/>
            </a:avLst>
          </a:prstGeom>
          <a:solidFill>
            <a:srgbClr val="F1F3F4"/>
          </a:solidFill>
          <a:ln>
            <a:noFill/>
          </a:ln>
        </p:spPr>
        <p:txBody>
          <a:bodyPr wrap="square" lIns="91440" tIns="91440" rIns="91440" bIns="9144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3 · Twin</a:t>
            </a:r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Earth Engine, Maps and OSM data on 10 m cells</a:t>
            </a:r>
          </a:p>
        </p:txBody>
      </p:sp>
      <p:cxnSp>
        <p:nvCxnSpPr>
          <p:cNvPr id="1021" name="Arrow 1021"/>
          <p:cNvCxnSpPr/>
          <p:nvPr/>
        </p:nvCxnSpPr>
        <p:spPr>
          <a:xfrm>
            <a:off x="4489704" y="1943100"/>
            <a:ext cx="164592" cy="0"/>
          </a:xfrm>
          <a:prstGeom prst="straightConnector1">
            <a:avLst/>
          </a:prstGeom>
          <a:ln w="15875">
            <a:solidFill>
              <a:srgbClr val="5F6368"/>
            </a:solidFill>
            <a:tailEnd type="triangle" w="med" len="med"/>
          </a:ln>
        </p:spPr>
      </p:cxnSp>
      <p:sp>
        <p:nvSpPr>
          <p:cNvPr id="1022" name="Text 1022"/>
          <p:cNvSpPr txBox="1"/>
          <p:nvPr/>
        </p:nvSpPr>
        <p:spPr>
          <a:xfrm>
            <a:off x="4681728" y="1463040"/>
            <a:ext cx="1219200" cy="960120"/>
          </a:xfrm>
          <a:prstGeom prst="roundRect">
            <a:avLst>
              <a:gd name="adj" fmla="val 7000"/>
            </a:avLst>
          </a:prstGeom>
          <a:solidFill>
            <a:srgbClr val="188038"/>
          </a:solidFill>
          <a:ln>
            <a:noFill/>
          </a:ln>
        </p:spPr>
        <p:txBody>
          <a:bodyPr wrap="square" lIns="91440" tIns="91440" rIns="91440" bIns="9144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100" dirty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4 · Plan</a:t>
            </a:r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By hand, or brief the Gemini agent</a:t>
            </a:r>
          </a:p>
        </p:txBody>
      </p:sp>
      <p:cxnSp>
        <p:nvCxnSpPr>
          <p:cNvPr id="1023" name="Arrow 1023"/>
          <p:cNvCxnSpPr/>
          <p:nvPr/>
        </p:nvCxnSpPr>
        <p:spPr>
          <a:xfrm>
            <a:off x="5928360" y="1943100"/>
            <a:ext cx="164592" cy="0"/>
          </a:xfrm>
          <a:prstGeom prst="straightConnector1">
            <a:avLst/>
          </a:prstGeom>
          <a:ln w="15875">
            <a:solidFill>
              <a:srgbClr val="5F6368"/>
            </a:solidFill>
            <a:tailEnd type="triangle" w="med" len="med"/>
          </a:ln>
        </p:spPr>
      </p:cxnSp>
      <p:sp>
        <p:nvSpPr>
          <p:cNvPr id="1024" name="Text 1024"/>
          <p:cNvSpPr txBox="1"/>
          <p:nvPr/>
        </p:nvSpPr>
        <p:spPr>
          <a:xfrm>
            <a:off x="6120384" y="1463040"/>
            <a:ext cx="1219200" cy="960120"/>
          </a:xfrm>
          <a:prstGeom prst="roundRect">
            <a:avLst>
              <a:gd name="adj" fmla="val 7000"/>
            </a:avLst>
          </a:prstGeom>
          <a:solidFill>
            <a:srgbClr val="F1F3F4"/>
          </a:solidFill>
          <a:ln>
            <a:noFill/>
          </a:ln>
        </p:spPr>
        <p:txBody>
          <a:bodyPr wrap="square" lIns="91440" tIns="91440" rIns="91440" bIns="9144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5 · Review</a:t>
            </a:r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Compare options, before/after heat, save</a:t>
            </a:r>
          </a:p>
        </p:txBody>
      </p:sp>
      <p:cxnSp>
        <p:nvCxnSpPr>
          <p:cNvPr id="1025" name="Arrow 1025"/>
          <p:cNvCxnSpPr/>
          <p:nvPr/>
        </p:nvCxnSpPr>
        <p:spPr>
          <a:xfrm>
            <a:off x="7367016" y="1943100"/>
            <a:ext cx="164592" cy="0"/>
          </a:xfrm>
          <a:prstGeom prst="straightConnector1">
            <a:avLst/>
          </a:prstGeom>
          <a:ln w="15875">
            <a:solidFill>
              <a:srgbClr val="5F6368"/>
            </a:solidFill>
            <a:tailEnd type="triangle" w="med" len="med"/>
          </a:ln>
        </p:spPr>
      </p:cxnSp>
      <p:sp>
        <p:nvSpPr>
          <p:cNvPr id="1026" name="Text 1026"/>
          <p:cNvSpPr txBox="1"/>
          <p:nvPr/>
        </p:nvSpPr>
        <p:spPr>
          <a:xfrm>
            <a:off x="7559040" y="1463040"/>
            <a:ext cx="1219200" cy="960120"/>
          </a:xfrm>
          <a:prstGeom prst="roundRect">
            <a:avLst>
              <a:gd name="adj" fmla="val 7000"/>
            </a:avLst>
          </a:prstGeom>
          <a:solidFill>
            <a:srgbClr val="F1F3F4"/>
          </a:solidFill>
          <a:ln>
            <a:noFill/>
          </a:ln>
        </p:spPr>
        <p:txBody>
          <a:bodyPr wrap="square" lIns="91440" tIns="91440" rIns="91440" bIns="9144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6 · Act</a:t>
            </a:r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Materials, funding proposal, vendor quotes</a:t>
            </a:r>
          </a:p>
        </p:txBody>
      </p:sp>
      <p:sp>
        <p:nvSpPr>
          <p:cNvPr id="1027" name="Text 1027"/>
          <p:cNvSpPr txBox="1"/>
          <p:nvPr/>
        </p:nvSpPr>
        <p:spPr>
          <a:xfrm>
            <a:off x="365760" y="2679192"/>
            <a:ext cx="8412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18803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INSIDE STEP 4: THE GEMINI AGENT LOOP (FUNCTION CALLING ON VERTEX AI)</a:t>
            </a:r>
          </a:p>
        </p:txBody>
      </p:sp>
      <p:sp>
        <p:nvSpPr>
          <p:cNvPr id="1028" name="Text 1028"/>
          <p:cNvSpPr txBox="1"/>
          <p:nvPr/>
        </p:nvSpPr>
        <p:spPr>
          <a:xfrm>
            <a:off x="365760" y="2971800"/>
            <a:ext cx="1492301" cy="1280160"/>
          </a:xfrm>
          <a:prstGeom prst="roundRect">
            <a:avLst>
              <a:gd name="adj" fmla="val 7000"/>
            </a:avLst>
          </a:prstGeom>
          <a:noFill/>
          <a:ln w="9525">
            <a:solidFill>
              <a:srgbClr val="188038"/>
            </a:solidFill>
          </a:ln>
        </p:spPr>
        <p:txBody>
          <a:bodyPr wrap="square" lIns="91440" tIns="91440" rIns="91440" bIns="9144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0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Read the place</a:t>
            </a:r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get_place_brief, get_zone, plus generated heat and canopy maps</a:t>
            </a:r>
          </a:p>
        </p:txBody>
      </p:sp>
      <p:cxnSp>
        <p:nvCxnSpPr>
          <p:cNvPr id="1029" name="Arrow 1029"/>
          <p:cNvCxnSpPr/>
          <p:nvPr/>
        </p:nvCxnSpPr>
        <p:spPr>
          <a:xfrm>
            <a:off x="1885493" y="3611880"/>
            <a:ext cx="182880" cy="0"/>
          </a:xfrm>
          <a:prstGeom prst="straightConnector1">
            <a:avLst/>
          </a:prstGeom>
          <a:ln w="15875">
            <a:solidFill>
              <a:srgbClr val="188038"/>
            </a:solidFill>
            <a:tailEnd type="triangle" w="med" len="med"/>
          </a:ln>
        </p:spPr>
      </p:cxnSp>
      <p:sp>
        <p:nvSpPr>
          <p:cNvPr id="1030" name="Text 1030"/>
          <p:cNvSpPr txBox="1"/>
          <p:nvPr/>
        </p:nvSpPr>
        <p:spPr>
          <a:xfrm>
            <a:off x="2095805" y="2971800"/>
            <a:ext cx="1492301" cy="1280160"/>
          </a:xfrm>
          <a:prstGeom prst="roundRect">
            <a:avLst>
              <a:gd name="adj" fmla="val 7000"/>
            </a:avLst>
          </a:prstGeom>
          <a:noFill/>
          <a:ln w="9525">
            <a:solidFill>
              <a:srgbClr val="188038"/>
            </a:solidFill>
          </a:ln>
        </p:spPr>
        <p:txBody>
          <a:bodyPr wrap="square" lIns="91440" tIns="91440" rIns="91440" bIns="9144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0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Strategise</a:t>
            </a:r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run_scenario 2–4 times: goal, zones, landmarks, species, roofs, shelters</a:t>
            </a:r>
          </a:p>
        </p:txBody>
      </p:sp>
      <p:cxnSp>
        <p:nvCxnSpPr>
          <p:cNvPr id="1031" name="Arrow 1031"/>
          <p:cNvCxnSpPr/>
          <p:nvPr/>
        </p:nvCxnSpPr>
        <p:spPr>
          <a:xfrm>
            <a:off x="3615538" y="3611880"/>
            <a:ext cx="182880" cy="0"/>
          </a:xfrm>
          <a:prstGeom prst="straightConnector1">
            <a:avLst/>
          </a:prstGeom>
          <a:ln w="15875">
            <a:solidFill>
              <a:srgbClr val="188038"/>
            </a:solidFill>
            <a:tailEnd type="triangle" w="med" len="med"/>
          </a:ln>
        </p:spPr>
      </p:cxnSp>
      <p:sp>
        <p:nvSpPr>
          <p:cNvPr id="1032" name="Text 1032"/>
          <p:cNvSpPr txBox="1"/>
          <p:nvPr/>
        </p:nvSpPr>
        <p:spPr>
          <a:xfrm>
            <a:off x="3825850" y="2971800"/>
            <a:ext cx="1492301" cy="1280160"/>
          </a:xfrm>
          <a:prstGeom prst="roundRect">
            <a:avLst>
              <a:gd name="adj" fmla="val 7000"/>
            </a:avLst>
          </a:prstGeom>
          <a:noFill/>
          <a:ln w="9525">
            <a:solidFill>
              <a:srgbClr val="188038"/>
            </a:solidFill>
          </a:ln>
        </p:spPr>
        <p:txBody>
          <a:bodyPr wrap="square" lIns="91440" tIns="91440" rIns="91440" bIns="9144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0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Self-critique</a:t>
            </a:r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check_plan: budget, trees in shade, zones left out, species mix</a:t>
            </a:r>
          </a:p>
        </p:txBody>
      </p:sp>
      <p:cxnSp>
        <p:nvCxnSpPr>
          <p:cNvPr id="1033" name="Arrow 1033"/>
          <p:cNvCxnSpPr/>
          <p:nvPr/>
        </p:nvCxnSpPr>
        <p:spPr>
          <a:xfrm>
            <a:off x="5345582" y="3611880"/>
            <a:ext cx="182880" cy="0"/>
          </a:xfrm>
          <a:prstGeom prst="straightConnector1">
            <a:avLst/>
          </a:prstGeom>
          <a:ln w="15875">
            <a:solidFill>
              <a:srgbClr val="188038"/>
            </a:solidFill>
            <a:tailEnd type="triangle" w="med" len="med"/>
          </a:ln>
        </p:spPr>
      </p:cxnSp>
      <p:sp>
        <p:nvSpPr>
          <p:cNvPr id="1034" name="Text 1034"/>
          <p:cNvSpPr txBox="1"/>
          <p:nvPr/>
        </p:nvSpPr>
        <p:spPr>
          <a:xfrm>
            <a:off x="5555894" y="2971800"/>
            <a:ext cx="1492301" cy="1280160"/>
          </a:xfrm>
          <a:prstGeom prst="roundRect">
            <a:avLst>
              <a:gd name="adj" fmla="val 7000"/>
            </a:avLst>
          </a:prstGeom>
          <a:noFill/>
          <a:ln w="9525">
            <a:solidFill>
              <a:srgbClr val="188038"/>
            </a:solidFill>
          </a:ln>
        </p:spPr>
        <p:txBody>
          <a:bodyPr wrap="square" lIns="91440" tIns="91440" rIns="91440" bIns="9144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0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Revise</a:t>
            </a:r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Choice refused if &gt;10% of trees sit in existing shade (up to 2 rounds)</a:t>
            </a:r>
          </a:p>
        </p:txBody>
      </p:sp>
      <p:cxnSp>
        <p:nvCxnSpPr>
          <p:cNvPr id="1035" name="Arrow 1035"/>
          <p:cNvCxnSpPr/>
          <p:nvPr/>
        </p:nvCxnSpPr>
        <p:spPr>
          <a:xfrm>
            <a:off x="7075627" y="3611880"/>
            <a:ext cx="182880" cy="0"/>
          </a:xfrm>
          <a:prstGeom prst="straightConnector1">
            <a:avLst/>
          </a:prstGeom>
          <a:ln w="15875">
            <a:solidFill>
              <a:srgbClr val="188038"/>
            </a:solidFill>
            <a:tailEnd type="triangle" w="med" len="med"/>
          </a:ln>
        </p:spPr>
      </p:cxnSp>
      <p:sp>
        <p:nvSpPr>
          <p:cNvPr id="1036" name="Text 1036"/>
          <p:cNvSpPr txBox="1"/>
          <p:nvPr/>
        </p:nvSpPr>
        <p:spPr>
          <a:xfrm>
            <a:off x="7285939" y="2971800"/>
            <a:ext cx="1492301" cy="1280160"/>
          </a:xfrm>
          <a:prstGeom prst="roundRect">
            <a:avLst>
              <a:gd name="adj" fmla="val 7000"/>
            </a:avLst>
          </a:prstGeom>
          <a:noFill/>
          <a:ln w="9525">
            <a:solidFill>
              <a:srgbClr val="188038"/>
            </a:solidFill>
          </a:ln>
        </p:spPr>
        <p:txBody>
          <a:bodyPr wrap="square" lIns="91440" tIns="91440" rIns="91440" bIns="9144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0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Choose and explain</a:t>
            </a:r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choose_scenario, then a structured answer zone by zone</a:t>
            </a:r>
          </a:p>
        </p:txBody>
      </p:sp>
      <p:sp>
        <p:nvSpPr>
          <p:cNvPr id="1037" name="Text 1037"/>
          <p:cNvSpPr txBox="1"/>
          <p:nvPr/>
        </p:nvSpPr>
        <p:spPr>
          <a:xfrm>
            <a:off x="365760" y="4389120"/>
            <a:ext cx="8412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Guardrail: </a:t>
            </a:r>
            <a:r>
              <a:rPr lang="en-GB" sz="9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every number in Gemini's answer is matched to the tool outputs; unmatched figures are shown to the user. </a:t>
            </a:r>
            <a:r>
              <a:rPr lang="en-GB" sz="9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Real run (Lajpat Nagar, ₹20 lakh): </a:t>
            </a:r>
            <a:r>
              <a:rPr lang="en-GB" sz="9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3 strategies simulated, 2 checked, S1 chosen, 0 unmatched numbers, 114 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038" name="Picture 1038" descr="LeafIt 1 · Home scree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1207008"/>
            <a:ext cx="2377440" cy="148590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039" name="Text 1039"/>
          <p:cNvSpPr txBox="1"/>
          <p:nvPr/>
        </p:nvSpPr>
        <p:spPr>
          <a:xfrm>
            <a:off x="2880360" y="1207008"/>
            <a:ext cx="1554480" cy="148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1 · Home</a:t>
            </a:r>
          </a:p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What LeafIt does and where to start; open the sample or find your own place.</a:t>
            </a:r>
          </a:p>
        </p:txBody>
      </p:sp>
      <p:pic>
        <p:nvPicPr>
          <p:cNvPr id="1040" name="Picture 1040" descr="LeafIt 2 · Explore scree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9160" y="1207008"/>
            <a:ext cx="2377440" cy="148590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041" name="Text 1041"/>
          <p:cNvSpPr txBox="1"/>
          <p:nvPr/>
        </p:nvSpPr>
        <p:spPr>
          <a:xfrm>
            <a:off x="7223760" y="1207008"/>
            <a:ext cx="1554480" cy="148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2 · Explore</a:t>
            </a:r>
          </a:p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Search, then drag a box on the Google satellite map to build the 3D twin.</a:t>
            </a:r>
          </a:p>
        </p:txBody>
      </p:sp>
      <p:pic>
        <p:nvPicPr>
          <p:cNvPr id="1042" name="Picture 1042" descr="LeafIt 3 · Studio + AI planner scree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760" y="2921508"/>
            <a:ext cx="2377440" cy="148590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043" name="Text 1043"/>
          <p:cNvSpPr txBox="1"/>
          <p:nvPr/>
        </p:nvSpPr>
        <p:spPr>
          <a:xfrm>
            <a:off x="2880360" y="2921508"/>
            <a:ext cx="1554480" cy="148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3 · Studio + AI planner</a:t>
            </a:r>
          </a:p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Brief Gemini in plain words with a budget; read its recommendation.</a:t>
            </a:r>
          </a:p>
        </p:txBody>
      </p:sp>
      <p:pic>
        <p:nvPicPr>
          <p:cNvPr id="1044" name="Picture 1044" descr="LeafIt 4 · Review screen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09160" y="2921508"/>
            <a:ext cx="2377440" cy="148590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045" name="Text 1045"/>
          <p:cNvSpPr txBox="1"/>
          <p:nvPr/>
        </p:nvSpPr>
        <p:spPr>
          <a:xfrm>
            <a:off x="7223760" y="2921508"/>
            <a:ext cx="1554480" cy="148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4 · Review</a:t>
            </a:r>
          </a:p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Measured heat today against the plan; cooling as a low–high range.</a:t>
            </a:r>
          </a:p>
        </p:txBody>
      </p:sp>
      <p:sp>
        <p:nvSpPr>
          <p:cNvPr id="1046" name="Text 1046"/>
          <p:cNvSpPr txBox="1"/>
          <p:nvPr/>
        </p:nvSpPr>
        <p:spPr>
          <a:xfrm>
            <a:off x="365760" y="4599432"/>
            <a:ext cx="8412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Screens captured from the working prototype at 1440 × 900, running the version described in this deck.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47" name="Text 1047"/>
          <p:cNvSpPr txBox="1"/>
          <p:nvPr/>
        </p:nvSpPr>
        <p:spPr>
          <a:xfrm>
            <a:off x="365760" y="1234440"/>
            <a:ext cx="2331720" cy="3017520"/>
          </a:xfrm>
          <a:prstGeom prst="roundRect">
            <a:avLst>
              <a:gd name="adj" fmla="val 7000"/>
            </a:avLst>
          </a:prstGeom>
          <a:solidFill>
            <a:srgbClr val="F1F3F4"/>
          </a:solidFill>
          <a:ln>
            <a:noFill/>
          </a:ln>
        </p:spPr>
        <p:txBody>
          <a:bodyPr wrap="square" lIns="128016" tIns="128016" rIns="128016" bIns="128016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950" dirty="0">
                <a:solidFill>
                  <a:srgbClr val="18803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BROWSER</a:t>
            </a:r>
          </a:p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React 19 web app</a:t>
            </a:r>
          </a:p>
          <a:p>
            <a:pPr marL="171450" indent="-171450" algn="l">
              <a:spcBef>
                <a:spcPts val="0"/>
              </a:spcBef>
              <a:spcAft>
                <a:spcPts val="300"/>
              </a:spcAft>
              <a:buClr>
                <a:srgbClr val="5F6368"/>
              </a:buClr>
              <a:buSzPct val="100000"/>
              <a:buFont typeface="Arial"/>
              <a:buChar char="•"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three.js 3D twin of the area</a:t>
            </a:r>
          </a:p>
          <a:p>
            <a:pPr marL="171450" indent="-171450" algn="l">
              <a:spcBef>
                <a:spcPts val="0"/>
              </a:spcBef>
              <a:spcAft>
                <a:spcPts val="300"/>
              </a:spcAft>
              <a:buClr>
                <a:srgbClr val="5F6368"/>
              </a:buClr>
              <a:buSzPct val="100000"/>
              <a:buFont typeface="Arial"/>
              <a:buChar char="•"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Simulator in a Web Worker: instant numbers while editing</a:t>
            </a:r>
          </a:p>
          <a:p>
            <a:pPr marL="171450" indent="-171450" algn="l">
              <a:spcBef>
                <a:spcPts val="0"/>
              </a:spcBef>
              <a:spcAft>
                <a:spcPts val="300"/>
              </a:spcAft>
              <a:buClr>
                <a:srgbClr val="5F6368"/>
              </a:buClr>
              <a:buSzPct val="100000"/>
              <a:buFont typeface="Arial"/>
              <a:buChar char="•"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Same model file as the server (shared/model.json)</a:t>
            </a:r>
          </a:p>
          <a:p>
            <a:pPr marL="171450" indent="-171450" algn="l">
              <a:spcBef>
                <a:spcPts val="0"/>
              </a:spcBef>
              <a:spcAft>
                <a:spcPts val="300"/>
              </a:spcAft>
              <a:buClr>
                <a:srgbClr val="5F6368"/>
              </a:buClr>
              <a:buSzPct val="100000"/>
              <a:buFont typeface="Arial"/>
              <a:buChar char="•"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Google Maps JS: search and satellite map</a:t>
            </a:r>
          </a:p>
          <a:p>
            <a:pPr marL="171450" indent="-171450" algn="l">
              <a:spcBef>
                <a:spcPts val="0"/>
              </a:spcBef>
              <a:spcAft>
                <a:spcPts val="0"/>
              </a:spcAft>
              <a:buClr>
                <a:srgbClr val="5F6368"/>
              </a:buClr>
              <a:buSzPct val="100000"/>
              <a:buFont typeface="Arial"/>
              <a:buChar char="•"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Map Tiles API: satellite ground of the twin</a:t>
            </a:r>
          </a:p>
        </p:txBody>
      </p:sp>
      <p:sp>
        <p:nvSpPr>
          <p:cNvPr id="1048" name="Text 1048"/>
          <p:cNvSpPr txBox="1"/>
          <p:nvPr/>
        </p:nvSpPr>
        <p:spPr>
          <a:xfrm>
            <a:off x="3108960" y="1234440"/>
            <a:ext cx="2743200" cy="3017520"/>
          </a:xfrm>
          <a:prstGeom prst="roundRect">
            <a:avLst>
              <a:gd name="adj" fmla="val 7000"/>
            </a:avLst>
          </a:prstGeom>
          <a:solidFill>
            <a:srgbClr val="F1F3F4"/>
          </a:solidFill>
          <a:ln>
            <a:noFill/>
          </a:ln>
        </p:spPr>
        <p:txBody>
          <a:bodyPr wrap="square" lIns="128016" tIns="128016" rIns="128016" bIns="128016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950" dirty="0">
                <a:solidFill>
                  <a:srgbClr val="18803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GOOGLE CLOUD RUN · ONE CONTAINER</a:t>
            </a:r>
          </a:p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FastAPI backend (Python 3.12)</a:t>
            </a:r>
          </a:p>
          <a:p>
            <a:pPr marL="171450" indent="-171450" algn="l">
              <a:spcBef>
                <a:spcPts val="0"/>
              </a:spcBef>
              <a:spcAft>
                <a:spcPts val="300"/>
              </a:spcAft>
              <a:buClr>
                <a:srgbClr val="5F6368"/>
              </a:buClr>
              <a:buSzPct val="100000"/>
              <a:buFont typeface="Arial"/>
              <a:buChar char="•"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Area builder: assembles the twin from 9 sources</a:t>
            </a:r>
          </a:p>
          <a:p>
            <a:pPr marL="171450" indent="-171450" algn="l">
              <a:spcBef>
                <a:spcPts val="0"/>
              </a:spcBef>
              <a:spcAft>
                <a:spcPts val="300"/>
              </a:spcAft>
              <a:buClr>
                <a:srgbClr val="5F6368"/>
              </a:buClr>
              <a:buSzPct val="100000"/>
              <a:buFont typeface="Arial"/>
              <a:buChar char="•"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Simulator and optimiser (NumPy, SciPy)</a:t>
            </a:r>
          </a:p>
          <a:p>
            <a:pPr marL="171450" indent="-171450" algn="l">
              <a:spcBef>
                <a:spcPts val="0"/>
              </a:spcBef>
              <a:spcAft>
                <a:spcPts val="300"/>
              </a:spcAft>
              <a:buClr>
                <a:srgbClr val="5F6368"/>
              </a:buClr>
              <a:buSzPct val="100000"/>
              <a:buFont typeface="Arial"/>
              <a:buChar char="•"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planning agent: 5 tools, up to 16 turns, numbers guardrail</a:t>
            </a:r>
          </a:p>
          <a:p>
            <a:pPr marL="171450" indent="-171450" algn="l">
              <a:spcBef>
                <a:spcPts val="0"/>
              </a:spcBef>
              <a:spcAft>
                <a:spcPts val="300"/>
              </a:spcAft>
              <a:buClr>
                <a:srgbClr val="5F6368"/>
              </a:buClr>
              <a:buSzPct val="100000"/>
              <a:buFont typeface="Arial"/>
              <a:buChar char="•"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Funding-proposal writer, vendors and quotes</a:t>
            </a:r>
          </a:p>
          <a:p>
            <a:pPr marL="171450" indent="-171450" algn="l">
              <a:spcBef>
                <a:spcPts val="0"/>
              </a:spcBef>
              <a:spcAft>
                <a:spcPts val="0"/>
              </a:spcAft>
              <a:buClr>
                <a:srgbClr val="5F6368"/>
              </a:buClr>
              <a:buSzPct val="100000"/>
              <a:buFont typeface="Arial"/>
              <a:buChar char="•"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Serves the built web app; areas and plans cached with expiry</a:t>
            </a:r>
          </a:p>
        </p:txBody>
      </p:sp>
      <p:cxnSp>
        <p:nvCxnSpPr>
          <p:cNvPr id="1049" name="Arrow 1049"/>
          <p:cNvCxnSpPr/>
          <p:nvPr/>
        </p:nvCxnSpPr>
        <p:spPr>
          <a:xfrm>
            <a:off x="2734056" y="2148840"/>
            <a:ext cx="338328" cy="0"/>
          </a:xfrm>
          <a:prstGeom prst="straightConnector1">
            <a:avLst/>
          </a:prstGeom>
          <a:ln w="15875">
            <a:solidFill>
              <a:srgbClr val="5F6368"/>
            </a:solidFill>
            <a:tailEnd type="triangle" w="med" len="med"/>
          </a:ln>
        </p:spPr>
      </p:cxnSp>
      <p:cxnSp>
        <p:nvCxnSpPr>
          <p:cNvPr id="1050" name="Arrow 1050"/>
          <p:cNvCxnSpPr/>
          <p:nvPr/>
        </p:nvCxnSpPr>
        <p:spPr>
          <a:xfrm flipH="1">
            <a:off x="2734056" y="2468880"/>
            <a:ext cx="338328" cy="0"/>
          </a:xfrm>
          <a:prstGeom prst="straightConnector1">
            <a:avLst/>
          </a:prstGeom>
          <a:ln w="15875">
            <a:solidFill>
              <a:srgbClr val="5F6368"/>
            </a:solidFill>
            <a:tailEnd type="triangle" w="med" len="med"/>
          </a:ln>
        </p:spPr>
      </p:cxnSp>
      <p:sp>
        <p:nvSpPr>
          <p:cNvPr id="1051" name="Text 1051"/>
          <p:cNvSpPr txBox="1"/>
          <p:nvPr/>
        </p:nvSpPr>
        <p:spPr>
          <a:xfrm>
            <a:off x="2697480" y="1801368"/>
            <a:ext cx="4114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JSON</a:t>
            </a:r>
          </a:p>
        </p:txBody>
      </p:sp>
      <p:sp>
        <p:nvSpPr>
          <p:cNvPr id="1052" name="Text 1052"/>
          <p:cNvSpPr txBox="1"/>
          <p:nvPr/>
        </p:nvSpPr>
        <p:spPr>
          <a:xfrm>
            <a:off x="6263640" y="1234440"/>
            <a:ext cx="2514600" cy="672084"/>
          </a:xfrm>
          <a:prstGeom prst="roundRect">
            <a:avLst>
              <a:gd name="adj" fmla="val 7000"/>
            </a:avLst>
          </a:prstGeom>
          <a:noFill/>
          <a:ln w="9525">
            <a:solidFill>
              <a:srgbClr val="188038"/>
            </a:solidFill>
          </a:ln>
        </p:spPr>
        <p:txBody>
          <a:bodyPr wrap="square" lIns="73152" tIns="73152" rIns="73152" bIns="73152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Vertex AI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Gemini: function calling, vision on two generated maps, thinking</a:t>
            </a:r>
          </a:p>
        </p:txBody>
      </p:sp>
      <p:cxnSp>
        <p:nvCxnSpPr>
          <p:cNvPr id="1053" name="Arrow 1053"/>
          <p:cNvCxnSpPr/>
          <p:nvPr/>
        </p:nvCxnSpPr>
        <p:spPr>
          <a:xfrm>
            <a:off x="5888736" y="1570482"/>
            <a:ext cx="338328" cy="0"/>
          </a:xfrm>
          <a:prstGeom prst="straightConnector1">
            <a:avLst/>
          </a:prstGeom>
          <a:ln w="15875">
            <a:solidFill>
              <a:srgbClr val="188038"/>
            </a:solidFill>
            <a:tailEnd type="triangle" w="med" len="med"/>
          </a:ln>
        </p:spPr>
      </p:cxnSp>
      <p:sp>
        <p:nvSpPr>
          <p:cNvPr id="1054" name="Text 1054"/>
          <p:cNvSpPr txBox="1"/>
          <p:nvPr/>
        </p:nvSpPr>
        <p:spPr>
          <a:xfrm>
            <a:off x="6263640" y="2016252"/>
            <a:ext cx="2514600" cy="672084"/>
          </a:xfrm>
          <a:prstGeom prst="roundRect">
            <a:avLst>
              <a:gd name="adj" fmla="val 7000"/>
            </a:avLst>
          </a:prstGeom>
          <a:noFill/>
          <a:ln w="9525">
            <a:solidFill>
              <a:srgbClr val="188038"/>
            </a:solidFill>
          </a:ln>
        </p:spPr>
        <p:txBody>
          <a:bodyPr wrap="square" lIns="73152" tIns="73152" rIns="73152" bIns="73152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Google Earth Engine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Landsat 8/9 heat, ESA WorldCover, Open Buildings 2.5D, Meta/WRI canopy, WorldPop</a:t>
            </a:r>
          </a:p>
        </p:txBody>
      </p:sp>
      <p:cxnSp>
        <p:nvCxnSpPr>
          <p:cNvPr id="1055" name="Arrow 1055"/>
          <p:cNvCxnSpPr/>
          <p:nvPr/>
        </p:nvCxnSpPr>
        <p:spPr>
          <a:xfrm>
            <a:off x="5888736" y="2352294"/>
            <a:ext cx="338328" cy="0"/>
          </a:xfrm>
          <a:prstGeom prst="straightConnector1">
            <a:avLst/>
          </a:prstGeom>
          <a:ln w="15875">
            <a:solidFill>
              <a:srgbClr val="188038"/>
            </a:solidFill>
            <a:tailEnd type="triangle" w="med" len="med"/>
          </a:ln>
        </p:spPr>
      </p:cxnSp>
      <p:sp>
        <p:nvSpPr>
          <p:cNvPr id="1056" name="Text 1056"/>
          <p:cNvSpPr txBox="1"/>
          <p:nvPr/>
        </p:nvSpPr>
        <p:spPr>
          <a:xfrm>
            <a:off x="6263640" y="2798064"/>
            <a:ext cx="2514600" cy="672084"/>
          </a:xfrm>
          <a:prstGeom prst="roundRect">
            <a:avLst>
              <a:gd name="adj" fmla="val 7000"/>
            </a:avLst>
          </a:prstGeom>
          <a:noFill/>
          <a:ln w="9525">
            <a:solidFill>
              <a:srgbClr val="188038"/>
            </a:solidFill>
          </a:ln>
        </p:spPr>
        <p:txBody>
          <a:bodyPr wrap="square" lIns="73152" tIns="73152" rIns="73152" bIns="73152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Google Maps Platform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Places (landmarks, vendors), Air Quality API</a:t>
            </a:r>
          </a:p>
        </p:txBody>
      </p:sp>
      <p:cxnSp>
        <p:nvCxnSpPr>
          <p:cNvPr id="1057" name="Arrow 1057"/>
          <p:cNvCxnSpPr/>
          <p:nvPr/>
        </p:nvCxnSpPr>
        <p:spPr>
          <a:xfrm>
            <a:off x="5888736" y="3134106"/>
            <a:ext cx="338328" cy="0"/>
          </a:xfrm>
          <a:prstGeom prst="straightConnector1">
            <a:avLst/>
          </a:prstGeom>
          <a:ln w="15875">
            <a:solidFill>
              <a:srgbClr val="188038"/>
            </a:solidFill>
            <a:tailEnd type="triangle" w="med" len="med"/>
          </a:ln>
        </p:spPr>
      </p:cxnSp>
      <p:sp>
        <p:nvSpPr>
          <p:cNvPr id="1058" name="Text 1058"/>
          <p:cNvSpPr txBox="1"/>
          <p:nvPr/>
        </p:nvSpPr>
        <p:spPr>
          <a:xfrm>
            <a:off x="6263640" y="3579876"/>
            <a:ext cx="2514600" cy="672084"/>
          </a:xfrm>
          <a:prstGeom prst="roundRect">
            <a:avLst>
              <a:gd name="adj" fmla="val 7000"/>
            </a:avLst>
          </a:prstGeom>
          <a:noFill/>
          <a:ln w="9525">
            <a:solidFill>
              <a:srgbClr val="188038"/>
            </a:solidFill>
          </a:ln>
        </p:spPr>
        <p:txBody>
          <a:bodyPr wrap="square" lIns="73152" tIns="73152" rIns="73152" bIns="73152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Open data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OpenStreetMap roads (Overpass), Open-Meteo climate</a:t>
            </a:r>
          </a:p>
        </p:txBody>
      </p:sp>
      <p:cxnSp>
        <p:nvCxnSpPr>
          <p:cNvPr id="1059" name="Arrow 1059"/>
          <p:cNvCxnSpPr/>
          <p:nvPr/>
        </p:nvCxnSpPr>
        <p:spPr>
          <a:xfrm>
            <a:off x="5888736" y="3915918"/>
            <a:ext cx="338328" cy="0"/>
          </a:xfrm>
          <a:prstGeom prst="straightConnector1">
            <a:avLst/>
          </a:prstGeom>
          <a:ln w="15875">
            <a:solidFill>
              <a:srgbClr val="188038"/>
            </a:solidFill>
            <a:tailEnd type="triangle" w="med" len="med"/>
          </a:ln>
        </p:spPr>
      </p:cxnSp>
      <p:sp>
        <p:nvSpPr>
          <p:cNvPr id="1060" name="Text 1060"/>
          <p:cNvSpPr txBox="1"/>
          <p:nvPr/>
        </p:nvSpPr>
        <p:spPr>
          <a:xfrm>
            <a:off x="365760" y="4389120"/>
            <a:ext cx="841248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Delivery: </a:t>
            </a:r>
            <a:r>
              <a:rPr lang="en-GB" sz="9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Cloud Build → Artifact Registry → Cloud Run in one script (deploy.sh). Gemini and Earth Engine are called as the service account, so no AI or Earth Engine key ships in the deployment.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61" name="Text 1061"/>
          <p:cNvSpPr txBox="1"/>
          <p:nvPr/>
        </p:nvSpPr>
        <p:spPr>
          <a:xfrm>
            <a:off x="365760" y="1143000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LAYER</a:t>
            </a:r>
          </a:p>
        </p:txBody>
      </p:sp>
      <p:sp>
        <p:nvSpPr>
          <p:cNvPr id="1062" name="Text 1062"/>
          <p:cNvSpPr txBox="1"/>
          <p:nvPr/>
        </p:nvSpPr>
        <p:spPr>
          <a:xfrm>
            <a:off x="1691640" y="1143000"/>
            <a:ext cx="29718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TECHNOLOGY</a:t>
            </a:r>
          </a:p>
        </p:txBody>
      </p:sp>
      <p:sp>
        <p:nvSpPr>
          <p:cNvPr id="1063" name="Text 1063"/>
          <p:cNvSpPr txBox="1"/>
          <p:nvPr/>
        </p:nvSpPr>
        <p:spPr>
          <a:xfrm>
            <a:off x="4663440" y="1143000"/>
            <a:ext cx="41148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USED FOR</a:t>
            </a:r>
          </a:p>
        </p:txBody>
      </p:sp>
      <p:sp>
        <p:nvSpPr>
          <p:cNvPr id="1064" name="Text 1064"/>
          <p:cNvSpPr txBox="1"/>
          <p:nvPr/>
        </p:nvSpPr>
        <p:spPr>
          <a:xfrm>
            <a:off x="365760" y="1444752"/>
            <a:ext cx="8412480" cy="487245"/>
          </a:xfrm>
          <a:prstGeom prst="rect">
            <a:avLst/>
          </a:prstGeom>
          <a:solidFill>
            <a:srgbClr val="F1F3F4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/>
          </a:p>
        </p:txBody>
      </p:sp>
      <p:sp>
        <p:nvSpPr>
          <p:cNvPr id="1065" name="Text 1065"/>
          <p:cNvSpPr txBox="1"/>
          <p:nvPr/>
        </p:nvSpPr>
        <p:spPr>
          <a:xfrm>
            <a:off x="365760" y="1444752"/>
            <a:ext cx="1325880" cy="487245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dirty="0">
                <a:solidFill>
                  <a:srgbClr val="18803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Generative AI</a:t>
            </a:r>
          </a:p>
        </p:txBody>
      </p:sp>
      <p:sp>
        <p:nvSpPr>
          <p:cNvPr id="1066" name="Text 1066"/>
          <p:cNvSpPr txBox="1"/>
          <p:nvPr/>
        </p:nvSpPr>
        <p:spPr>
          <a:xfrm>
            <a:off x="1691640" y="1444752"/>
            <a:ext cx="2971800" cy="487245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Gemini 3.8 Flash on Vertex AI (Gen AI SDK)</a:t>
            </a:r>
          </a:p>
        </p:txBody>
      </p:sp>
      <p:sp>
        <p:nvSpPr>
          <p:cNvPr id="1067" name="Text 1067"/>
          <p:cNvSpPr txBox="1"/>
          <p:nvPr/>
        </p:nvSpPr>
        <p:spPr>
          <a:xfrm>
            <a:off x="4663440" y="1444752"/>
            <a:ext cx="4114800" cy="487245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Planning agent with function calling, vision and a 1,024-token thinking budget; funding proposals</a:t>
            </a:r>
          </a:p>
        </p:txBody>
      </p:sp>
      <p:sp>
        <p:nvSpPr>
          <p:cNvPr id="1068" name="Text 1068"/>
          <p:cNvSpPr txBox="1"/>
          <p:nvPr/>
        </p:nvSpPr>
        <p:spPr>
          <a:xfrm>
            <a:off x="365760" y="1931997"/>
            <a:ext cx="8412480" cy="48724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/>
          </a:p>
        </p:txBody>
      </p:sp>
      <p:sp>
        <p:nvSpPr>
          <p:cNvPr id="1069" name="Text 1069"/>
          <p:cNvSpPr txBox="1"/>
          <p:nvPr/>
        </p:nvSpPr>
        <p:spPr>
          <a:xfrm>
            <a:off x="365760" y="1931997"/>
            <a:ext cx="1325880" cy="487245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dirty="0">
                <a:solidFill>
                  <a:srgbClr val="18803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Geospatial data</a:t>
            </a:r>
          </a:p>
        </p:txBody>
      </p:sp>
      <p:sp>
        <p:nvSpPr>
          <p:cNvPr id="1070" name="Text 1070"/>
          <p:cNvSpPr txBox="1"/>
          <p:nvPr/>
        </p:nvSpPr>
        <p:spPr>
          <a:xfrm>
            <a:off x="1691640" y="1931997"/>
            <a:ext cx="2971800" cy="487245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Google Earth Engine</a:t>
            </a:r>
          </a:p>
        </p:txBody>
      </p:sp>
      <p:sp>
        <p:nvSpPr>
          <p:cNvPr id="1071" name="Text 1071"/>
          <p:cNvSpPr txBox="1"/>
          <p:nvPr/>
        </p:nvSpPr>
        <p:spPr>
          <a:xfrm>
            <a:off x="4663440" y="1931997"/>
            <a:ext cx="4114800" cy="487245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Landsat 8/9 surface temperature, ESA WorldCover, Open Buildings 2.5D, Meta/WRI canopy height, WorldPop</a:t>
            </a:r>
          </a:p>
        </p:txBody>
      </p:sp>
      <p:sp>
        <p:nvSpPr>
          <p:cNvPr id="1072" name="Text 1072"/>
          <p:cNvSpPr txBox="1"/>
          <p:nvPr/>
        </p:nvSpPr>
        <p:spPr>
          <a:xfrm>
            <a:off x="365760" y="2419241"/>
            <a:ext cx="8412480" cy="487245"/>
          </a:xfrm>
          <a:prstGeom prst="rect">
            <a:avLst/>
          </a:prstGeom>
          <a:solidFill>
            <a:srgbClr val="F1F3F4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/>
          </a:p>
        </p:txBody>
      </p:sp>
      <p:sp>
        <p:nvSpPr>
          <p:cNvPr id="1073" name="Text 1073"/>
          <p:cNvSpPr txBox="1"/>
          <p:nvPr/>
        </p:nvSpPr>
        <p:spPr>
          <a:xfrm>
            <a:off x="365760" y="2419241"/>
            <a:ext cx="1325880" cy="487245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dirty="0">
                <a:solidFill>
                  <a:srgbClr val="18803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Maps</a:t>
            </a:r>
          </a:p>
        </p:txBody>
      </p:sp>
      <p:sp>
        <p:nvSpPr>
          <p:cNvPr id="1074" name="Text 1074"/>
          <p:cNvSpPr txBox="1"/>
          <p:nvPr/>
        </p:nvSpPr>
        <p:spPr>
          <a:xfrm>
            <a:off x="1691640" y="2419241"/>
            <a:ext cx="2971800" cy="487245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Google Maps Platform</a:t>
            </a:r>
          </a:p>
        </p:txBody>
      </p:sp>
      <p:sp>
        <p:nvSpPr>
          <p:cNvPr id="1075" name="Text 1075"/>
          <p:cNvSpPr txBox="1"/>
          <p:nvPr/>
        </p:nvSpPr>
        <p:spPr>
          <a:xfrm>
            <a:off x="4663440" y="2419241"/>
            <a:ext cx="4114800" cy="487245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Maps JavaScript API and Places search, Places (landmarks, vendors), Air Quality API, Map Tiles API</a:t>
            </a:r>
          </a:p>
        </p:txBody>
      </p:sp>
      <p:sp>
        <p:nvSpPr>
          <p:cNvPr id="1076" name="Text 1076"/>
          <p:cNvSpPr txBox="1"/>
          <p:nvPr/>
        </p:nvSpPr>
        <p:spPr>
          <a:xfrm>
            <a:off x="365760" y="2906486"/>
            <a:ext cx="8412480" cy="48724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/>
          </a:p>
        </p:txBody>
      </p:sp>
      <p:sp>
        <p:nvSpPr>
          <p:cNvPr id="1077" name="Text 1077"/>
          <p:cNvSpPr txBox="1"/>
          <p:nvPr/>
        </p:nvSpPr>
        <p:spPr>
          <a:xfrm>
            <a:off x="365760" y="2906486"/>
            <a:ext cx="1325880" cy="487245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dirty="0">
                <a:solidFill>
                  <a:srgbClr val="18803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Backend</a:t>
            </a:r>
          </a:p>
        </p:txBody>
      </p:sp>
      <p:sp>
        <p:nvSpPr>
          <p:cNvPr id="1078" name="Text 1078"/>
          <p:cNvSpPr txBox="1"/>
          <p:nvPr/>
        </p:nvSpPr>
        <p:spPr>
          <a:xfrm>
            <a:off x="1691640" y="2906486"/>
            <a:ext cx="2971800" cy="487245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Python 3.12, FastAPI, NumPy, SciPy, httpx, Pillow</a:t>
            </a:r>
          </a:p>
        </p:txBody>
      </p:sp>
      <p:sp>
        <p:nvSpPr>
          <p:cNvPr id="1079" name="Text 1079"/>
          <p:cNvSpPr txBox="1"/>
          <p:nvPr/>
        </p:nvSpPr>
        <p:spPr>
          <a:xfrm>
            <a:off x="4663440" y="2906486"/>
            <a:ext cx="4114800" cy="487245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Simulator, optimiser, agent tools, generated maps for Gemini</a:t>
            </a:r>
          </a:p>
        </p:txBody>
      </p:sp>
      <p:sp>
        <p:nvSpPr>
          <p:cNvPr id="1080" name="Text 1080"/>
          <p:cNvSpPr txBox="1"/>
          <p:nvPr/>
        </p:nvSpPr>
        <p:spPr>
          <a:xfrm>
            <a:off x="365760" y="3393730"/>
            <a:ext cx="8412480" cy="487245"/>
          </a:xfrm>
          <a:prstGeom prst="rect">
            <a:avLst/>
          </a:prstGeom>
          <a:solidFill>
            <a:srgbClr val="F1F3F4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/>
          </a:p>
        </p:txBody>
      </p:sp>
      <p:sp>
        <p:nvSpPr>
          <p:cNvPr id="1081" name="Text 1081"/>
          <p:cNvSpPr txBox="1"/>
          <p:nvPr/>
        </p:nvSpPr>
        <p:spPr>
          <a:xfrm>
            <a:off x="365760" y="3393730"/>
            <a:ext cx="1325880" cy="487245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dirty="0">
                <a:solidFill>
                  <a:srgbClr val="18803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Frontend</a:t>
            </a:r>
          </a:p>
        </p:txBody>
      </p:sp>
      <p:sp>
        <p:nvSpPr>
          <p:cNvPr id="1082" name="Text 1082"/>
          <p:cNvSpPr txBox="1"/>
          <p:nvPr/>
        </p:nvSpPr>
        <p:spPr>
          <a:xfrm>
            <a:off x="1691640" y="3393730"/>
            <a:ext cx="2971800" cy="487245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React 19, Vite, three.js, Zustand, Framer Motion</a:t>
            </a:r>
          </a:p>
        </p:txBody>
      </p:sp>
      <p:sp>
        <p:nvSpPr>
          <p:cNvPr id="1083" name="Text 1083"/>
          <p:cNvSpPr txBox="1"/>
          <p:nvPr/>
        </p:nvSpPr>
        <p:spPr>
          <a:xfrm>
            <a:off x="4663440" y="3393730"/>
            <a:ext cx="4114800" cy="487245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3D twin, live simulation in a Web Worker, 14 currencies, light and dark themes</a:t>
            </a:r>
          </a:p>
        </p:txBody>
      </p:sp>
      <p:sp>
        <p:nvSpPr>
          <p:cNvPr id="1084" name="Text 1084"/>
          <p:cNvSpPr txBox="1"/>
          <p:nvPr/>
        </p:nvSpPr>
        <p:spPr>
          <a:xfrm>
            <a:off x="365760" y="3880975"/>
            <a:ext cx="8412480" cy="48724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/>
          </a:p>
        </p:txBody>
      </p:sp>
      <p:sp>
        <p:nvSpPr>
          <p:cNvPr id="1085" name="Text 1085"/>
          <p:cNvSpPr txBox="1"/>
          <p:nvPr/>
        </p:nvSpPr>
        <p:spPr>
          <a:xfrm>
            <a:off x="365760" y="3880975"/>
            <a:ext cx="1325880" cy="487245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dirty="0">
                <a:solidFill>
                  <a:srgbClr val="18803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Cloud</a:t>
            </a:r>
          </a:p>
        </p:txBody>
      </p:sp>
      <p:sp>
        <p:nvSpPr>
          <p:cNvPr id="1086" name="Text 1086"/>
          <p:cNvSpPr txBox="1"/>
          <p:nvPr/>
        </p:nvSpPr>
        <p:spPr>
          <a:xfrm>
            <a:off x="1691640" y="3880975"/>
            <a:ext cx="2971800" cy="487245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Cloud Run, Cloud Build, Artifact Registry, Docker</a:t>
            </a:r>
          </a:p>
        </p:txBody>
      </p:sp>
      <p:sp>
        <p:nvSpPr>
          <p:cNvPr id="1087" name="Text 1087"/>
          <p:cNvSpPr txBox="1"/>
          <p:nvPr/>
        </p:nvSpPr>
        <p:spPr>
          <a:xfrm>
            <a:off x="4663440" y="3880975"/>
            <a:ext cx="4114800" cy="487245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One container serves the API and the web app</a:t>
            </a:r>
          </a:p>
        </p:txBody>
      </p:sp>
      <p:sp>
        <p:nvSpPr>
          <p:cNvPr id="1088" name="Text 1088"/>
          <p:cNvSpPr txBox="1"/>
          <p:nvPr/>
        </p:nvSpPr>
        <p:spPr>
          <a:xfrm>
            <a:off x="365760" y="4368219"/>
            <a:ext cx="8412480" cy="487245"/>
          </a:xfrm>
          <a:prstGeom prst="rect">
            <a:avLst/>
          </a:prstGeom>
          <a:solidFill>
            <a:srgbClr val="F1F3F4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/>
          </a:p>
        </p:txBody>
      </p:sp>
      <p:sp>
        <p:nvSpPr>
          <p:cNvPr id="1089" name="Text 1089"/>
          <p:cNvSpPr txBox="1"/>
          <p:nvPr/>
        </p:nvSpPr>
        <p:spPr>
          <a:xfrm>
            <a:off x="365760" y="4368219"/>
            <a:ext cx="1325880" cy="487245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dirty="0">
                <a:solidFill>
                  <a:srgbClr val="18803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Quality</a:t>
            </a:r>
          </a:p>
        </p:txBody>
      </p:sp>
      <p:sp>
        <p:nvSpPr>
          <p:cNvPr id="1090" name="Text 1090"/>
          <p:cNvSpPr txBox="1"/>
          <p:nvPr/>
        </p:nvSpPr>
        <p:spPr>
          <a:xfrm>
            <a:off x="1691640" y="4368219"/>
            <a:ext cx="2971800" cy="487245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pytest, Vitest, Ruff, oxlint, shared golden fixtures</a:t>
            </a:r>
          </a:p>
        </p:txBody>
      </p:sp>
      <p:sp>
        <p:nvSpPr>
          <p:cNvPr id="1091" name="Text 1091"/>
          <p:cNvSpPr txBox="1"/>
          <p:nvPr/>
        </p:nvSpPr>
        <p:spPr>
          <a:xfrm>
            <a:off x="4663440" y="4368219"/>
            <a:ext cx="4114800" cy="487245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157 automated tests; browser and server simulators kept identical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92" name="Text 1092"/>
          <p:cNvSpPr txBox="1"/>
          <p:nvPr/>
        </p:nvSpPr>
        <p:spPr>
          <a:xfrm>
            <a:off x="365760" y="114300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18803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WHAT A PLAN COSTS TO BUILD</a:t>
            </a:r>
          </a:p>
        </p:txBody>
      </p:sp>
      <p:sp>
        <p:nvSpPr>
          <p:cNvPr id="1093" name="Text 1093"/>
          <p:cNvSpPr txBox="1"/>
          <p:nvPr/>
        </p:nvSpPr>
        <p:spPr>
          <a:xfrm>
            <a:off x="365760" y="1463040"/>
            <a:ext cx="4572000" cy="566928"/>
          </a:xfrm>
          <a:prstGeom prst="roundRect">
            <a:avLst>
              <a:gd name="adj" fmla="val 7000"/>
            </a:avLst>
          </a:prstGeom>
          <a:solidFill>
            <a:srgbClr val="F1F3F4"/>
          </a:solidFill>
          <a:ln>
            <a:noFill/>
          </a:ln>
        </p:spPr>
        <p:txBody>
          <a:bodyPr wrap="square" lIns="91440" tIns="91440" rIns="91440" bIns="9144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0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Street tree  </a:t>
            </a:r>
            <a:r>
              <a:rPr lang="en-GB" sz="1050" dirty="0">
                <a:solidFill>
                  <a:srgbClr val="18803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₹3,000 each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Sapling, metal guard, planting, 3 years' care (IISc 2015; MCD 2010)</a:t>
            </a:r>
          </a:p>
        </p:txBody>
      </p:sp>
      <p:sp>
        <p:nvSpPr>
          <p:cNvPr id="1094" name="Text 1094"/>
          <p:cNvSpPr txBox="1"/>
          <p:nvPr/>
        </p:nvSpPr>
        <p:spPr>
          <a:xfrm>
            <a:off x="365760" y="2103120"/>
            <a:ext cx="4572000" cy="566928"/>
          </a:xfrm>
          <a:prstGeom prst="roundRect">
            <a:avLst>
              <a:gd name="adj" fmla="val 7000"/>
            </a:avLst>
          </a:prstGeom>
          <a:solidFill>
            <a:srgbClr val="F1F3F4"/>
          </a:solidFill>
          <a:ln>
            <a:noFill/>
          </a:ln>
        </p:spPr>
        <p:txBody>
          <a:bodyPr wrap="square" lIns="91440" tIns="91440" rIns="91440" bIns="9144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0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Cool roof  </a:t>
            </a:r>
            <a:r>
              <a:rPr lang="en-GB" sz="1050" dirty="0">
                <a:solidFill>
                  <a:srgbClr val="18803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₹300 per m²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Cool paint or tiles, Telangana's Cool Roof Policy (2023)</a:t>
            </a:r>
          </a:p>
        </p:txBody>
      </p:sp>
      <p:sp>
        <p:nvSpPr>
          <p:cNvPr id="1095" name="Text 1095"/>
          <p:cNvSpPr txBox="1"/>
          <p:nvPr/>
        </p:nvSpPr>
        <p:spPr>
          <a:xfrm>
            <a:off x="365760" y="2743200"/>
            <a:ext cx="4572000" cy="566928"/>
          </a:xfrm>
          <a:prstGeom prst="roundRect">
            <a:avLst>
              <a:gd name="adj" fmla="val 7000"/>
            </a:avLst>
          </a:prstGeom>
          <a:solidFill>
            <a:srgbClr val="F1F3F4"/>
          </a:solidFill>
          <a:ln>
            <a:noFill/>
          </a:ln>
        </p:spPr>
        <p:txBody>
          <a:bodyPr wrap="square" lIns="91440" tIns="91440" rIns="91440" bIns="9144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0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Shaded bus shelter  </a:t>
            </a:r>
            <a:r>
              <a:rPr lang="en-GB" sz="1050" dirty="0">
                <a:solidFill>
                  <a:srgbClr val="18803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₹10 lakh each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DTC solar bus-queue shelter; Delhi 2018 range ₹8–20 lakh</a:t>
            </a:r>
          </a:p>
        </p:txBody>
      </p:sp>
      <p:sp>
        <p:nvSpPr>
          <p:cNvPr id="1096" name="Text 1096"/>
          <p:cNvSpPr txBox="1"/>
          <p:nvPr/>
        </p:nvSpPr>
        <p:spPr>
          <a:xfrm>
            <a:off x="365760" y="3456432"/>
            <a:ext cx="4572000" cy="1417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950" dirty="0">
                <a:solidFill>
                  <a:srgbClr val="18803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EXAMPLE: GEMINI'S PLAN FOR LAJPAT NAGAR, ₹20 LAKH</a:t>
            </a:r>
          </a:p>
          <a:p>
            <a:pPr marL="171450" indent="-171450" algn="l">
              <a:spcBef>
                <a:spcPts val="0"/>
              </a:spcBef>
              <a:spcAft>
                <a:spcPts val="200"/>
              </a:spcAft>
              <a:buClr>
                <a:srgbClr val="5F6368"/>
              </a:buClr>
              <a:buSzPct val="100000"/>
              <a:buFont typeface="Arial"/>
              <a:buChar char="•"/>
            </a:pPr>
            <a:r>
              <a:rPr lang="en-GB" sz="100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466 trees × ₹3,000 = ₹13.98 lakh</a:t>
            </a:r>
          </a:p>
          <a:p>
            <a:pPr marL="171450" indent="-171450" algn="l">
              <a:spcBef>
                <a:spcPts val="0"/>
              </a:spcBef>
              <a:spcAft>
                <a:spcPts val="200"/>
              </a:spcAft>
              <a:buClr>
                <a:srgbClr val="5F6368"/>
              </a:buClr>
              <a:buSzPct val="100000"/>
              <a:buFont typeface="Arial"/>
              <a:buChar char="•"/>
            </a:pPr>
            <a:r>
              <a:rPr lang="en-GB" sz="100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2,005 m² of cool roofs × ₹300 = ₹6.02 lakh</a:t>
            </a:r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Total ₹20.00 lakh. All prices are editable in the app, and vendor quotes replace them.</a:t>
            </a:r>
          </a:p>
        </p:txBody>
      </p:sp>
      <p:sp>
        <p:nvSpPr>
          <p:cNvPr id="1097" name="Text 1097"/>
          <p:cNvSpPr txBox="1"/>
          <p:nvPr/>
        </p:nvSpPr>
        <p:spPr>
          <a:xfrm>
            <a:off x="5303520" y="1143000"/>
            <a:ext cx="34747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18803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WHAT LEAFIT COSTS TO RUN</a:t>
            </a:r>
          </a:p>
        </p:txBody>
      </p:sp>
      <p:sp>
        <p:nvSpPr>
          <p:cNvPr id="1098" name="Text 1098"/>
          <p:cNvSpPr txBox="1"/>
          <p:nvPr/>
        </p:nvSpPr>
        <p:spPr>
          <a:xfrm>
            <a:off x="5303520" y="1463040"/>
            <a:ext cx="3474720" cy="2971800"/>
          </a:xfrm>
          <a:prstGeom prst="roundRect">
            <a:avLst>
              <a:gd name="adj" fmla="val 7000"/>
            </a:avLst>
          </a:prstGeom>
          <a:solidFill>
            <a:srgbClr val="F1F3F4"/>
          </a:solidFill>
          <a:ln>
            <a:noFill/>
          </a:ln>
        </p:spPr>
        <p:txBody>
          <a:bodyPr wrap="square" lIns="146304" tIns="146304" rIns="146304" bIns="146304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0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Cloud Run</a:t>
            </a:r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2 vCPU, 2 GiB, billed per request and scales to zero when idle. No always-on server or database.</a:t>
            </a:r>
          </a:p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0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Gemini on Vertex AI</a:t>
            </a:r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Pay per call. A built-in guard caps calls at 600 a day (configurable), so spend cannot run away.</a:t>
            </a:r>
          </a:p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0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Earth Engine and Maps</a:t>
            </a:r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Each area is built once and cached, so revisits cost no new satellite or Maps requests.</a:t>
            </a:r>
          </a:p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0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Built on Google Cloud</a:t>
            </a:r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Usage-based pricing: costs grow only with the number of areas built and plans made.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099" name="Picture 1099" descr="LeafIt Studio with Gemini's plan applie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1188720"/>
            <a:ext cx="4069080" cy="2543175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100" name="Text 1100"/>
          <p:cNvSpPr txBox="1"/>
          <p:nvPr/>
        </p:nvSpPr>
        <p:spPr>
          <a:xfrm>
            <a:off x="365760" y="3823335"/>
            <a:ext cx="4069080" cy="10504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Studio with Gemini's plan applied</a:t>
            </a:r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466 trees and 69 cool roofs on Lajpat Nagar. "About this plan" names zones, roads and species; landmark cooling and the three options Gemini tested sit on the right.</a:t>
            </a:r>
          </a:p>
        </p:txBody>
      </p:sp>
      <p:pic>
        <p:nvPicPr>
          <p:cNvPr id="1101" name="Picture 1101" descr="LeafIt AI planner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9160" y="1188720"/>
            <a:ext cx="4069080" cy="2543175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102" name="Text 1102"/>
          <p:cNvSpPr txBox="1"/>
          <p:nvPr/>
        </p:nvSpPr>
        <p:spPr>
          <a:xfrm>
            <a:off x="4709160" y="3823335"/>
            <a:ext cx="4069080" cy="10504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AI planner</a:t>
            </a:r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brief: "Keep shoppers at Lajpat Nagar Market and children walking to school cool, and protect elderly residents in dense homes", ₹20 lakh. Gemini's recommendation follows.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03" name="Text 1103"/>
          <p:cNvSpPr txBox="1"/>
          <p:nvPr/>
        </p:nvSpPr>
        <p:spPr>
          <a:xfrm>
            <a:off x="365760" y="1143000"/>
            <a:ext cx="3383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18803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MEASURED ON THE PROTOTYPE</a:t>
            </a:r>
          </a:p>
        </p:txBody>
      </p:sp>
      <p:sp>
        <p:nvSpPr>
          <p:cNvPr id="1104" name="Text 1104"/>
          <p:cNvSpPr txBox="1"/>
          <p:nvPr/>
        </p:nvSpPr>
        <p:spPr>
          <a:xfrm>
            <a:off x="365760" y="1444752"/>
            <a:ext cx="1143000" cy="5684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>
                <a:solidFill>
                  <a:srgbClr val="18803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4.6 ms</a:t>
            </a:r>
          </a:p>
        </p:txBody>
      </p:sp>
      <p:sp>
        <p:nvSpPr>
          <p:cNvPr id="1105" name="Text 1105"/>
          <p:cNvSpPr txBox="1"/>
          <p:nvPr/>
        </p:nvSpPr>
        <p:spPr>
          <a:xfrm>
            <a:off x="1508760" y="1444752"/>
            <a:ext cx="2240280" cy="568452"/>
          </a:xfrm>
          <a:prstGeom prst="rect">
            <a:avLst/>
          </a:prstGeom>
          <a:noFill/>
          <a:ln>
            <a:noFill/>
          </a:ln>
        </p:spPr>
        <p:txBody>
          <a:bodyPr wrap="square" lIns="36576" tIns="36576" rIns="36576" bIns="36576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Simulator: one plan on a 70 × 70 grid (4,900 cells of 10 m)</a:t>
            </a:r>
          </a:p>
        </p:txBody>
      </p:sp>
      <p:sp>
        <p:nvSpPr>
          <p:cNvPr id="1106" name="Text 1106"/>
          <p:cNvSpPr txBox="1"/>
          <p:nvPr/>
        </p:nvSpPr>
        <p:spPr>
          <a:xfrm>
            <a:off x="365760" y="2013204"/>
            <a:ext cx="1143000" cy="5684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>
                <a:solidFill>
                  <a:srgbClr val="18803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0.17–0.19 s</a:t>
            </a:r>
          </a:p>
        </p:txBody>
      </p:sp>
      <p:sp>
        <p:nvSpPr>
          <p:cNvPr id="1107" name="Text 1107"/>
          <p:cNvSpPr txBox="1"/>
          <p:nvPr/>
        </p:nvSpPr>
        <p:spPr>
          <a:xfrm>
            <a:off x="1508760" y="2013204"/>
            <a:ext cx="2240280" cy="568452"/>
          </a:xfrm>
          <a:prstGeom prst="rect">
            <a:avLst/>
          </a:prstGeom>
          <a:noFill/>
          <a:ln>
            <a:noFill/>
          </a:ln>
        </p:spPr>
        <p:txBody>
          <a:bodyPr wrap="square" lIns="36576" tIns="36576" rIns="36576" bIns="36576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Optimiser: one ₹20 lakh plan</a:t>
            </a:r>
          </a:p>
        </p:txBody>
      </p:sp>
      <p:sp>
        <p:nvSpPr>
          <p:cNvPr id="1108" name="Text 1108"/>
          <p:cNvSpPr txBox="1"/>
          <p:nvPr/>
        </p:nvSpPr>
        <p:spPr>
          <a:xfrm>
            <a:off x="365760" y="2581656"/>
            <a:ext cx="1143000" cy="5684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>
                <a:solidFill>
                  <a:srgbClr val="18803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114 s</a:t>
            </a:r>
          </a:p>
        </p:txBody>
      </p:sp>
      <p:sp>
        <p:nvSpPr>
          <p:cNvPr id="1109" name="Text 1109"/>
          <p:cNvSpPr txBox="1"/>
          <p:nvPr/>
        </p:nvSpPr>
        <p:spPr>
          <a:xfrm>
            <a:off x="1508760" y="2581656"/>
            <a:ext cx="2240280" cy="568452"/>
          </a:xfrm>
          <a:prstGeom prst="rect">
            <a:avLst/>
          </a:prstGeom>
          <a:noFill/>
          <a:ln>
            <a:noFill/>
          </a:ln>
        </p:spPr>
        <p:txBody>
          <a:bodyPr wrap="square" lIns="36576" tIns="36576" rIns="36576" bIns="36576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planner, brief to answer: 3 strategies, 2 checks, thinking on</a:t>
            </a:r>
          </a:p>
        </p:txBody>
      </p:sp>
      <p:sp>
        <p:nvSpPr>
          <p:cNvPr id="1110" name="Text 1110"/>
          <p:cNvSpPr txBox="1"/>
          <p:nvPr/>
        </p:nvSpPr>
        <p:spPr>
          <a:xfrm>
            <a:off x="365760" y="3150108"/>
            <a:ext cx="1143000" cy="5684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>
                <a:solidFill>
                  <a:srgbClr val="18803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0</a:t>
            </a:r>
          </a:p>
        </p:txBody>
      </p:sp>
      <p:sp>
        <p:nvSpPr>
          <p:cNvPr id="1111" name="Text 1111"/>
          <p:cNvSpPr txBox="1"/>
          <p:nvPr/>
        </p:nvSpPr>
        <p:spPr>
          <a:xfrm>
            <a:off x="1508760" y="3150108"/>
            <a:ext cx="2240280" cy="568452"/>
          </a:xfrm>
          <a:prstGeom prst="rect">
            <a:avLst/>
          </a:prstGeom>
          <a:noFill/>
          <a:ln>
            <a:noFill/>
          </a:ln>
        </p:spPr>
        <p:txBody>
          <a:bodyPr wrap="square" lIns="36576" tIns="36576" rIns="36576" bIns="36576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Numbers in Gemini's answer not traceable to the simulator</a:t>
            </a:r>
          </a:p>
        </p:txBody>
      </p:sp>
      <p:sp>
        <p:nvSpPr>
          <p:cNvPr id="1112" name="Text 1112"/>
          <p:cNvSpPr txBox="1"/>
          <p:nvPr/>
        </p:nvSpPr>
        <p:spPr>
          <a:xfrm>
            <a:off x="365760" y="3718560"/>
            <a:ext cx="1143000" cy="5684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>
                <a:solidFill>
                  <a:srgbClr val="18803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157</a:t>
            </a:r>
          </a:p>
        </p:txBody>
      </p:sp>
      <p:sp>
        <p:nvSpPr>
          <p:cNvPr id="1113" name="Text 1113"/>
          <p:cNvSpPr txBox="1"/>
          <p:nvPr/>
        </p:nvSpPr>
        <p:spPr>
          <a:xfrm>
            <a:off x="1508760" y="3718560"/>
            <a:ext cx="2240280" cy="568452"/>
          </a:xfrm>
          <a:prstGeom prst="rect">
            <a:avLst/>
          </a:prstGeom>
          <a:noFill/>
          <a:ln>
            <a:noFill/>
          </a:ln>
        </p:spPr>
        <p:txBody>
          <a:bodyPr wrap="square" lIns="36576" tIns="36576" rIns="36576" bIns="36576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Automated tests passing (115 backend, 42 frontend), all offline</a:t>
            </a:r>
          </a:p>
        </p:txBody>
      </p:sp>
      <p:sp>
        <p:nvSpPr>
          <p:cNvPr id="1114" name="Text 1114"/>
          <p:cNvSpPr txBox="1"/>
          <p:nvPr/>
        </p:nvSpPr>
        <p:spPr>
          <a:xfrm>
            <a:off x="365760" y="4287012"/>
            <a:ext cx="1143000" cy="5684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>
                <a:solidFill>
                  <a:srgbClr val="18803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11 / 11</a:t>
            </a:r>
          </a:p>
        </p:txBody>
      </p:sp>
      <p:sp>
        <p:nvSpPr>
          <p:cNvPr id="1115" name="Text 1115"/>
          <p:cNvSpPr txBox="1"/>
          <p:nvPr/>
        </p:nvSpPr>
        <p:spPr>
          <a:xfrm>
            <a:off x="1508760" y="4287012"/>
            <a:ext cx="2240280" cy="568452"/>
          </a:xfrm>
          <a:prstGeom prst="rect">
            <a:avLst/>
          </a:prstGeom>
          <a:noFill/>
          <a:ln>
            <a:noFill/>
          </a:ln>
        </p:spPr>
        <p:txBody>
          <a:bodyPr wrap="square" lIns="36576" tIns="36576" rIns="36576" bIns="36576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Shared cases where browser and server simulators agree</a:t>
            </a:r>
          </a:p>
        </p:txBody>
      </p:sp>
      <p:sp>
        <p:nvSpPr>
          <p:cNvPr id="1116" name="Text 1116"/>
          <p:cNvSpPr txBox="1"/>
          <p:nvPr/>
        </p:nvSpPr>
        <p:spPr>
          <a:xfrm>
            <a:off x="4069080" y="1143000"/>
            <a:ext cx="4709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18803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GEMINI'S THREE OPTIONS, REAL RUN · LAJPAT NAGAR · ₹20 LAKH · YEAR 10</a:t>
            </a:r>
          </a:p>
        </p:txBody>
      </p:sp>
      <p:sp>
        <p:nvSpPr>
          <p:cNvPr id="1117" name="Text 1117"/>
          <p:cNvSpPr txBox="1"/>
          <p:nvPr/>
        </p:nvSpPr>
        <p:spPr>
          <a:xfrm>
            <a:off x="4069080" y="1444752"/>
            <a:ext cx="1280160" cy="384048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anchor="b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Option</a:t>
            </a:r>
          </a:p>
        </p:txBody>
      </p:sp>
      <p:sp>
        <p:nvSpPr>
          <p:cNvPr id="1118" name="Text 1118"/>
          <p:cNvSpPr txBox="1"/>
          <p:nvPr/>
        </p:nvSpPr>
        <p:spPr>
          <a:xfrm>
            <a:off x="5349240" y="1444752"/>
            <a:ext cx="960120" cy="384048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anchor="b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Street cooling, °C</a:t>
            </a:r>
          </a:p>
        </p:txBody>
      </p:sp>
      <p:sp>
        <p:nvSpPr>
          <p:cNvPr id="1119" name="Text 1119"/>
          <p:cNvSpPr txBox="1"/>
          <p:nvPr/>
        </p:nvSpPr>
        <p:spPr>
          <a:xfrm>
            <a:off x="6309360" y="1444752"/>
            <a:ext cx="1005840" cy="384048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anchor="b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Hottest spot, °C</a:t>
            </a:r>
          </a:p>
        </p:txBody>
      </p:sp>
      <p:sp>
        <p:nvSpPr>
          <p:cNvPr id="1120" name="Text 1120"/>
          <p:cNvSpPr txBox="1"/>
          <p:nvPr/>
        </p:nvSpPr>
        <p:spPr>
          <a:xfrm>
            <a:off x="7315200" y="1444752"/>
            <a:ext cx="960120" cy="384048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anchor="b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Residents under cool roofs</a:t>
            </a:r>
          </a:p>
        </p:txBody>
      </p:sp>
      <p:sp>
        <p:nvSpPr>
          <p:cNvPr id="1121" name="Text 1121"/>
          <p:cNvSpPr txBox="1"/>
          <p:nvPr/>
        </p:nvSpPr>
        <p:spPr>
          <a:xfrm>
            <a:off x="8275320" y="1444752"/>
            <a:ext cx="502920" cy="384048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anchor="b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CO₂ / yr</a:t>
            </a:r>
          </a:p>
        </p:txBody>
      </p:sp>
      <p:sp>
        <p:nvSpPr>
          <p:cNvPr id="1122" name="Text 1122"/>
          <p:cNvSpPr txBox="1"/>
          <p:nvPr/>
        </p:nvSpPr>
        <p:spPr>
          <a:xfrm>
            <a:off x="4069080" y="1865376"/>
            <a:ext cx="4709160" cy="621792"/>
          </a:xfrm>
          <a:prstGeom prst="roundRect">
            <a:avLst>
              <a:gd name="adj" fmla="val 7000"/>
            </a:avLst>
          </a:prstGeom>
          <a:solidFill>
            <a:srgbClr val="E6F4EA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/>
          </a:p>
        </p:txBody>
      </p:sp>
      <p:sp>
        <p:nvSpPr>
          <p:cNvPr id="1123" name="Text 1123"/>
          <p:cNvSpPr txBox="1"/>
          <p:nvPr/>
        </p:nvSpPr>
        <p:spPr>
          <a:xfrm>
            <a:off x="4069080" y="1865376"/>
            <a:ext cx="1280160" cy="621792"/>
          </a:xfrm>
          <a:prstGeom prst="rect">
            <a:avLst/>
          </a:prstGeom>
          <a:noFill/>
          <a:ln>
            <a:noFill/>
          </a:ln>
        </p:spPr>
        <p:txBody>
          <a:bodyPr wrap="square" lIns="54864" tIns="54864" rIns="54864" bIns="54864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9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S1 · Vulnerable focus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466 trees · 69 roofs · chosen</a:t>
            </a:r>
          </a:p>
        </p:txBody>
      </p:sp>
      <p:sp>
        <p:nvSpPr>
          <p:cNvPr id="1124" name="Text 1124"/>
          <p:cNvSpPr txBox="1"/>
          <p:nvPr/>
        </p:nvSpPr>
        <p:spPr>
          <a:xfrm>
            <a:off x="5349240" y="1865376"/>
            <a:ext cx="960120" cy="621792"/>
          </a:xfrm>
          <a:prstGeom prst="rect">
            <a:avLst/>
          </a:prstGeom>
          <a:noFill/>
          <a:ln>
            <a:noFill/>
          </a:ln>
        </p:spPr>
        <p:txBody>
          <a:bodyPr wrap="square" lIns="54864" tIns="54864" rIns="54864" bIns="54864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−0.02 to −0.09</a:t>
            </a:r>
          </a:p>
        </p:txBody>
      </p:sp>
      <p:sp>
        <p:nvSpPr>
          <p:cNvPr id="1125" name="Text 1125"/>
          <p:cNvSpPr txBox="1"/>
          <p:nvPr/>
        </p:nvSpPr>
        <p:spPr>
          <a:xfrm>
            <a:off x="6309360" y="1865376"/>
            <a:ext cx="1005840" cy="621792"/>
          </a:xfrm>
          <a:prstGeom prst="rect">
            <a:avLst/>
          </a:prstGeom>
          <a:noFill/>
          <a:ln>
            <a:noFill/>
          </a:ln>
        </p:spPr>
        <p:txBody>
          <a:bodyPr wrap="square" lIns="54864" tIns="54864" rIns="54864" bIns="54864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−0.26 to −1.54</a:t>
            </a:r>
          </a:p>
        </p:txBody>
      </p:sp>
      <p:sp>
        <p:nvSpPr>
          <p:cNvPr id="1126" name="Text 1126"/>
          <p:cNvSpPr txBox="1"/>
          <p:nvPr/>
        </p:nvSpPr>
        <p:spPr>
          <a:xfrm>
            <a:off x="7315200" y="1865376"/>
            <a:ext cx="960120" cy="621792"/>
          </a:xfrm>
          <a:prstGeom prst="rect">
            <a:avLst/>
          </a:prstGeom>
          <a:noFill/>
          <a:ln>
            <a:noFill/>
          </a:ln>
        </p:spPr>
        <p:txBody>
          <a:bodyPr wrap="square" lIns="54864" tIns="54864" rIns="54864" bIns="54864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497 (61 vulnerable)</a:t>
            </a:r>
          </a:p>
        </p:txBody>
      </p:sp>
      <p:sp>
        <p:nvSpPr>
          <p:cNvPr id="1127" name="Text 1127"/>
          <p:cNvSpPr txBox="1"/>
          <p:nvPr/>
        </p:nvSpPr>
        <p:spPr>
          <a:xfrm>
            <a:off x="8275320" y="1865376"/>
            <a:ext cx="502920" cy="621792"/>
          </a:xfrm>
          <a:prstGeom prst="rect">
            <a:avLst/>
          </a:prstGeom>
          <a:noFill/>
          <a:ln>
            <a:noFill/>
          </a:ln>
        </p:spPr>
        <p:txBody>
          <a:bodyPr wrap="square" lIns="54864" tIns="54864" rIns="54864" bIns="54864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12.7 t</a:t>
            </a:r>
          </a:p>
        </p:txBody>
      </p:sp>
      <p:sp>
        <p:nvSpPr>
          <p:cNvPr id="1128" name="Text 1128"/>
          <p:cNvSpPr txBox="1"/>
          <p:nvPr/>
        </p:nvSpPr>
        <p:spPr>
          <a:xfrm>
            <a:off x="4069080" y="2551176"/>
            <a:ext cx="4709160" cy="621792"/>
          </a:xfrm>
          <a:prstGeom prst="roundRect">
            <a:avLst>
              <a:gd name="adj" fmla="val 7000"/>
            </a:avLst>
          </a:prstGeom>
          <a:solidFill>
            <a:srgbClr val="F1F3F4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/>
          </a:p>
        </p:txBody>
      </p:sp>
      <p:sp>
        <p:nvSpPr>
          <p:cNvPr id="1129" name="Text 1129"/>
          <p:cNvSpPr txBox="1"/>
          <p:nvPr/>
        </p:nvSpPr>
        <p:spPr>
          <a:xfrm>
            <a:off x="4069080" y="2551176"/>
            <a:ext cx="1280160" cy="621792"/>
          </a:xfrm>
          <a:prstGeom prst="rect">
            <a:avLst/>
          </a:prstGeom>
          <a:noFill/>
          <a:ln>
            <a:noFill/>
          </a:ln>
        </p:spPr>
        <p:txBody>
          <a:bodyPr wrap="square" lIns="54864" tIns="54864" rIns="54864" bIns="54864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9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S2 · People and market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533 trees · 46 roofs</a:t>
            </a:r>
          </a:p>
        </p:txBody>
      </p:sp>
      <p:sp>
        <p:nvSpPr>
          <p:cNvPr id="1130" name="Text 1130"/>
          <p:cNvSpPr txBox="1"/>
          <p:nvPr/>
        </p:nvSpPr>
        <p:spPr>
          <a:xfrm>
            <a:off x="5349240" y="2551176"/>
            <a:ext cx="960120" cy="621792"/>
          </a:xfrm>
          <a:prstGeom prst="rect">
            <a:avLst/>
          </a:prstGeom>
          <a:noFill/>
          <a:ln>
            <a:noFill/>
          </a:ln>
        </p:spPr>
        <p:txBody>
          <a:bodyPr wrap="square" lIns="54864" tIns="54864" rIns="54864" bIns="54864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−0.02 to −0.10</a:t>
            </a:r>
          </a:p>
        </p:txBody>
      </p:sp>
      <p:sp>
        <p:nvSpPr>
          <p:cNvPr id="1131" name="Text 1131"/>
          <p:cNvSpPr txBox="1"/>
          <p:nvPr/>
        </p:nvSpPr>
        <p:spPr>
          <a:xfrm>
            <a:off x="6309360" y="2551176"/>
            <a:ext cx="1005840" cy="621792"/>
          </a:xfrm>
          <a:prstGeom prst="rect">
            <a:avLst/>
          </a:prstGeom>
          <a:noFill/>
          <a:ln>
            <a:noFill/>
          </a:ln>
        </p:spPr>
        <p:txBody>
          <a:bodyPr wrap="square" lIns="54864" tIns="54864" rIns="54864" bIns="54864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−0.28 to −1.65</a:t>
            </a:r>
          </a:p>
        </p:txBody>
      </p:sp>
      <p:sp>
        <p:nvSpPr>
          <p:cNvPr id="1132" name="Text 1132"/>
          <p:cNvSpPr txBox="1"/>
          <p:nvPr/>
        </p:nvSpPr>
        <p:spPr>
          <a:xfrm>
            <a:off x="7315200" y="2551176"/>
            <a:ext cx="960120" cy="621792"/>
          </a:xfrm>
          <a:prstGeom prst="rect">
            <a:avLst/>
          </a:prstGeom>
          <a:noFill/>
          <a:ln>
            <a:noFill/>
          </a:ln>
        </p:spPr>
        <p:txBody>
          <a:bodyPr wrap="square" lIns="54864" tIns="54864" rIns="54864" bIns="54864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368 (45 vulnerable)</a:t>
            </a:r>
          </a:p>
        </p:txBody>
      </p:sp>
      <p:sp>
        <p:nvSpPr>
          <p:cNvPr id="1133" name="Text 1133"/>
          <p:cNvSpPr txBox="1"/>
          <p:nvPr/>
        </p:nvSpPr>
        <p:spPr>
          <a:xfrm>
            <a:off x="8275320" y="2551176"/>
            <a:ext cx="502920" cy="621792"/>
          </a:xfrm>
          <a:prstGeom prst="rect">
            <a:avLst/>
          </a:prstGeom>
          <a:noFill/>
          <a:ln>
            <a:noFill/>
          </a:ln>
        </p:spPr>
        <p:txBody>
          <a:bodyPr wrap="square" lIns="54864" tIns="54864" rIns="54864" bIns="54864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14.5 t</a:t>
            </a:r>
          </a:p>
        </p:txBody>
      </p:sp>
      <p:sp>
        <p:nvSpPr>
          <p:cNvPr id="1134" name="Text 1134"/>
          <p:cNvSpPr txBox="1"/>
          <p:nvPr/>
        </p:nvSpPr>
        <p:spPr>
          <a:xfrm>
            <a:off x="4069080" y="3236976"/>
            <a:ext cx="4709160" cy="621792"/>
          </a:xfrm>
          <a:prstGeom prst="roundRect">
            <a:avLst>
              <a:gd name="adj" fmla="val 7000"/>
            </a:avLst>
          </a:prstGeom>
          <a:solidFill>
            <a:srgbClr val="F1F3F4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/>
          </a:p>
        </p:txBody>
      </p:sp>
      <p:sp>
        <p:nvSpPr>
          <p:cNvPr id="1135" name="Text 1135"/>
          <p:cNvSpPr txBox="1"/>
          <p:nvPr/>
        </p:nvSpPr>
        <p:spPr>
          <a:xfrm>
            <a:off x="4069080" y="3236976"/>
            <a:ext cx="1280160" cy="621792"/>
          </a:xfrm>
          <a:prstGeom prst="rect">
            <a:avLst/>
          </a:prstGeom>
          <a:noFill/>
          <a:ln>
            <a:noFill/>
          </a:ln>
        </p:spPr>
        <p:txBody>
          <a:bodyPr wrap="square" lIns="54864" tIns="54864" rIns="54864" bIns="54864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9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S3 · Hotspots first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600 trees · 30 roofs</a:t>
            </a:r>
          </a:p>
        </p:txBody>
      </p:sp>
      <p:sp>
        <p:nvSpPr>
          <p:cNvPr id="1136" name="Text 1136"/>
          <p:cNvSpPr txBox="1"/>
          <p:nvPr/>
        </p:nvSpPr>
        <p:spPr>
          <a:xfrm>
            <a:off x="5349240" y="3236976"/>
            <a:ext cx="960120" cy="621792"/>
          </a:xfrm>
          <a:prstGeom prst="rect">
            <a:avLst/>
          </a:prstGeom>
          <a:noFill/>
          <a:ln>
            <a:noFill/>
          </a:ln>
        </p:spPr>
        <p:txBody>
          <a:bodyPr wrap="square" lIns="54864" tIns="54864" rIns="54864" bIns="54864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−0.02 to −0.11</a:t>
            </a:r>
          </a:p>
        </p:txBody>
      </p:sp>
      <p:sp>
        <p:nvSpPr>
          <p:cNvPr id="1137" name="Text 1137"/>
          <p:cNvSpPr txBox="1"/>
          <p:nvPr/>
        </p:nvSpPr>
        <p:spPr>
          <a:xfrm>
            <a:off x="6309360" y="3236976"/>
            <a:ext cx="1005840" cy="621792"/>
          </a:xfrm>
          <a:prstGeom prst="rect">
            <a:avLst/>
          </a:prstGeom>
          <a:noFill/>
          <a:ln>
            <a:noFill/>
          </a:ln>
        </p:spPr>
        <p:txBody>
          <a:bodyPr wrap="square" lIns="54864" tIns="54864" rIns="54864" bIns="54864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−0.30 to −1.70</a:t>
            </a:r>
          </a:p>
        </p:txBody>
      </p:sp>
      <p:sp>
        <p:nvSpPr>
          <p:cNvPr id="1138" name="Text 1138"/>
          <p:cNvSpPr txBox="1"/>
          <p:nvPr/>
        </p:nvSpPr>
        <p:spPr>
          <a:xfrm>
            <a:off x="7315200" y="3236976"/>
            <a:ext cx="960120" cy="621792"/>
          </a:xfrm>
          <a:prstGeom prst="rect">
            <a:avLst/>
          </a:prstGeom>
          <a:noFill/>
          <a:ln>
            <a:noFill/>
          </a:ln>
        </p:spPr>
        <p:txBody>
          <a:bodyPr wrap="square" lIns="54864" tIns="54864" rIns="54864" bIns="54864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230</a:t>
            </a:r>
          </a:p>
        </p:txBody>
      </p:sp>
      <p:sp>
        <p:nvSpPr>
          <p:cNvPr id="1139" name="Text 1139"/>
          <p:cNvSpPr txBox="1"/>
          <p:nvPr/>
        </p:nvSpPr>
        <p:spPr>
          <a:xfrm>
            <a:off x="8275320" y="3236976"/>
            <a:ext cx="502920" cy="621792"/>
          </a:xfrm>
          <a:prstGeom prst="rect">
            <a:avLst/>
          </a:prstGeom>
          <a:noFill/>
          <a:ln>
            <a:noFill/>
          </a:ln>
        </p:spPr>
        <p:txBody>
          <a:bodyPr wrap="square" lIns="54864" tIns="54864" rIns="54864" bIns="54864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16.3 t</a:t>
            </a:r>
          </a:p>
        </p:txBody>
      </p:sp>
      <p:sp>
        <p:nvSpPr>
          <p:cNvPr id="1140" name="Text 1140"/>
          <p:cNvSpPr txBox="1"/>
          <p:nvPr/>
        </p:nvSpPr>
        <p:spPr>
          <a:xfrm>
            <a:off x="4069080" y="3941064"/>
            <a:ext cx="4709160" cy="9326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chose S1: the brief asked to protect elderly residents in dense homes, and S1 puts the most residents under cool roofs. Cooling is low to high end of the published range. </a:t>
            </a:r>
            <a:r>
              <a:rPr lang="en-GB" sz="9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Calibration check: </a:t>
            </a:r>
            <a:r>
              <a:rPr lang="en-GB" sz="9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half canopy gives 0.256 °C at the low end (study: 0.268 °C); full canopy cools air 1.00 °C (review: ~1 °C).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41" name="Text 1141"/>
          <p:cNvSpPr txBox="1"/>
          <p:nvPr/>
        </p:nvSpPr>
        <p:spPr>
          <a:xfrm>
            <a:off x="365760" y="1188720"/>
            <a:ext cx="4114800" cy="1143000"/>
          </a:xfrm>
          <a:prstGeom prst="roundRect">
            <a:avLst>
              <a:gd name="adj" fmla="val 7000"/>
            </a:avLst>
          </a:prstGeom>
          <a:solidFill>
            <a:srgbClr val="F1F3F4"/>
          </a:solidFill>
          <a:ln>
            <a:noFill/>
          </a:ln>
        </p:spPr>
        <p:txBody>
          <a:bodyPr wrap="square" lIns="118872" tIns="118872" rIns="118872" bIns="118872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050" dirty="0">
                <a:solidFill>
                  <a:srgbClr val="18803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01  </a:t>
            </a:r>
            <a:r>
              <a:rPr lang="en-GB" sz="11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Narrow the cooling range</a:t>
            </a:r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Calibrate against Indian measurements: ward air-temperature sensors and afternoon thermal imagery, to replace today's range taken from European and US studies.</a:t>
            </a:r>
          </a:p>
        </p:txBody>
      </p:sp>
      <p:sp>
        <p:nvSpPr>
          <p:cNvPr id="1142" name="Text 1142"/>
          <p:cNvSpPr txBox="1"/>
          <p:nvPr/>
        </p:nvSpPr>
        <p:spPr>
          <a:xfrm>
            <a:off x="4663440" y="1188720"/>
            <a:ext cx="4114800" cy="1143000"/>
          </a:xfrm>
          <a:prstGeom prst="roundRect">
            <a:avLst>
              <a:gd name="adj" fmla="val 7000"/>
            </a:avLst>
          </a:prstGeom>
          <a:solidFill>
            <a:srgbClr val="F1F3F4"/>
          </a:solidFill>
          <a:ln>
            <a:noFill/>
          </a:ln>
        </p:spPr>
        <p:txBody>
          <a:bodyPr wrap="square" lIns="118872" tIns="118872" rIns="118872" bIns="118872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050" dirty="0">
                <a:solidFill>
                  <a:srgbClr val="18803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02  </a:t>
            </a:r>
            <a:r>
              <a:rPr lang="en-GB" sz="11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Indian tree data</a:t>
            </a:r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Crown size and growth per species from forest departments; size classes are estimates today.</a:t>
            </a:r>
          </a:p>
        </p:txBody>
      </p:sp>
      <p:sp>
        <p:nvSpPr>
          <p:cNvPr id="1143" name="Text 1143"/>
          <p:cNvSpPr txBox="1"/>
          <p:nvPr/>
        </p:nvSpPr>
        <p:spPr>
          <a:xfrm>
            <a:off x="365760" y="2459736"/>
            <a:ext cx="4114800" cy="1143000"/>
          </a:xfrm>
          <a:prstGeom prst="roundRect">
            <a:avLst>
              <a:gd name="adj" fmla="val 7000"/>
            </a:avLst>
          </a:prstGeom>
          <a:solidFill>
            <a:srgbClr val="F1F3F4"/>
          </a:solidFill>
          <a:ln>
            <a:noFill/>
          </a:ln>
        </p:spPr>
        <p:txBody>
          <a:bodyPr wrap="square" lIns="118872" tIns="118872" rIns="118872" bIns="118872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050" dirty="0">
                <a:solidFill>
                  <a:srgbClr val="18803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03  </a:t>
            </a:r>
            <a:r>
              <a:rPr lang="en-GB" sz="11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Track what gets planted</a:t>
            </a:r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Record trees and roofs actually installed and their survival, then compare predicted with measured heat each summer.</a:t>
            </a:r>
          </a:p>
        </p:txBody>
      </p:sp>
      <p:sp>
        <p:nvSpPr>
          <p:cNvPr id="1144" name="Text 1144"/>
          <p:cNvSpPr txBox="1"/>
          <p:nvPr/>
        </p:nvSpPr>
        <p:spPr>
          <a:xfrm>
            <a:off x="4663440" y="2459736"/>
            <a:ext cx="4114800" cy="1143000"/>
          </a:xfrm>
          <a:prstGeom prst="roundRect">
            <a:avLst>
              <a:gd name="adj" fmla="val 7000"/>
            </a:avLst>
          </a:prstGeom>
          <a:solidFill>
            <a:srgbClr val="F1F3F4"/>
          </a:solidFill>
          <a:ln>
            <a:noFill/>
          </a:ln>
        </p:spPr>
        <p:txBody>
          <a:bodyPr wrap="square" lIns="118872" tIns="118872" rIns="118872" bIns="118872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050" dirty="0">
                <a:solidFill>
                  <a:srgbClr val="18803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04  </a:t>
            </a:r>
            <a:r>
              <a:rPr lang="en-GB" sz="11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Scale the platform</a:t>
            </a:r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Move the area and plan cache to Firestore and Cloud Storage. Works wherever Open Buildings has data: Africa, South and Southeast Asia, Latin America.</a:t>
            </a:r>
          </a:p>
        </p:txBody>
      </p:sp>
      <p:sp>
        <p:nvSpPr>
          <p:cNvPr id="1145" name="Text 1145"/>
          <p:cNvSpPr txBox="1"/>
          <p:nvPr/>
        </p:nvSpPr>
        <p:spPr>
          <a:xfrm>
            <a:off x="365760" y="3730752"/>
            <a:ext cx="4114800" cy="1143000"/>
          </a:xfrm>
          <a:prstGeom prst="roundRect">
            <a:avLst>
              <a:gd name="adj" fmla="val 7000"/>
            </a:avLst>
          </a:prstGeom>
          <a:solidFill>
            <a:srgbClr val="F1F3F4"/>
          </a:solidFill>
          <a:ln>
            <a:noFill/>
          </a:ln>
        </p:spPr>
        <p:txBody>
          <a:bodyPr wrap="square" lIns="118872" tIns="118872" rIns="118872" bIns="118872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050" dirty="0">
                <a:solidFill>
                  <a:srgbClr val="18803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05  </a:t>
            </a:r>
            <a:r>
              <a:rPr lang="en-GB" sz="11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Stronger AI checks</a:t>
            </a:r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guardrail confirms every number exists in the tool outputs, not that it is used correctly; add checks on what each figure refers to.</a:t>
            </a:r>
          </a:p>
        </p:txBody>
      </p:sp>
      <p:sp>
        <p:nvSpPr>
          <p:cNvPr id="1146" name="Text 1146"/>
          <p:cNvSpPr txBox="1"/>
          <p:nvPr/>
        </p:nvSpPr>
        <p:spPr>
          <a:xfrm>
            <a:off x="4663440" y="3730752"/>
            <a:ext cx="4114800" cy="1143000"/>
          </a:xfrm>
          <a:prstGeom prst="roundRect">
            <a:avLst>
              <a:gd name="adj" fmla="val 7000"/>
            </a:avLst>
          </a:prstGeom>
          <a:solidFill>
            <a:srgbClr val="F1F3F4"/>
          </a:solidFill>
          <a:ln>
            <a:noFill/>
          </a:ln>
        </p:spPr>
        <p:txBody>
          <a:bodyPr wrap="square" lIns="118872" tIns="118872" rIns="118872" bIns="118872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050" dirty="0">
                <a:solidFill>
                  <a:srgbClr val="18803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06  </a:t>
            </a:r>
            <a:r>
              <a:rPr lang="en-GB" sz="11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Mobile app parity</a:t>
            </a:r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Flutter app shares the API; bring it level with the web app, including cooling ranges.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47" name="Text 1147"/>
          <p:cNvSpPr txBox="1"/>
          <p:nvPr/>
        </p:nvSpPr>
        <p:spPr>
          <a:xfrm>
            <a:off x="365760" y="1280160"/>
            <a:ext cx="8412480" cy="777240"/>
          </a:xfrm>
          <a:prstGeom prst="roundRect">
            <a:avLst>
              <a:gd name="adj" fmla="val 7000"/>
            </a:avLst>
          </a:prstGeom>
          <a:solidFill>
            <a:srgbClr val="F1F3F4"/>
          </a:solidFill>
          <a:ln>
            <a:noFill/>
          </a:ln>
        </p:spPr>
        <p:txBody>
          <a:bodyPr wrap="square" lIns="146304" tIns="146304" rIns="146304" bIns="146304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1100" dirty="0">
                <a:solidFill>
                  <a:srgbClr val="5F636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GitHub Public Repository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  <a:hlinkClick r:id="rId5"/>
              </a:rPr>
              <a:t>github.com/lohiyakeshav/LeafIt</a:t>
            </a:r>
          </a:p>
        </p:txBody>
      </p:sp>
      <p:sp>
        <p:nvSpPr>
          <p:cNvPr id="1148" name="Text 1148"/>
          <p:cNvSpPr txBox="1"/>
          <p:nvPr/>
        </p:nvSpPr>
        <p:spPr>
          <a:xfrm>
            <a:off x="365760" y="2194560"/>
            <a:ext cx="8412480" cy="777240"/>
          </a:xfrm>
          <a:prstGeom prst="roundRect">
            <a:avLst>
              <a:gd name="adj" fmla="val 7000"/>
            </a:avLst>
          </a:prstGeom>
          <a:solidFill>
            <a:srgbClr val="F1F3F4"/>
          </a:solidFill>
          <a:ln>
            <a:noFill/>
          </a:ln>
        </p:spPr>
        <p:txBody>
          <a:bodyPr wrap="square" lIns="146304" tIns="146304" rIns="146304" bIns="146304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1100" dirty="0">
                <a:solidFill>
                  <a:srgbClr val="5F636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Demo Video Link (3 Minutes)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 be added</a:t>
            </a:r>
          </a:p>
        </p:txBody>
      </p:sp>
      <p:sp>
        <p:nvSpPr>
          <p:cNvPr id="1149" name="Text 1149"/>
          <p:cNvSpPr txBox="1"/>
          <p:nvPr/>
        </p:nvSpPr>
        <p:spPr>
          <a:xfrm>
            <a:off x="365760" y="3108960"/>
            <a:ext cx="8412480" cy="777240"/>
          </a:xfrm>
          <a:prstGeom prst="roundRect">
            <a:avLst>
              <a:gd name="adj" fmla="val 7000"/>
            </a:avLst>
          </a:prstGeom>
          <a:solidFill>
            <a:srgbClr val="F1F3F4"/>
          </a:solidFill>
          <a:ln>
            <a:noFill/>
          </a:ln>
        </p:spPr>
        <p:txBody>
          <a:bodyPr wrap="square" lIns="146304" tIns="146304" rIns="146304" bIns="146304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1100" dirty="0">
                <a:solidFill>
                  <a:srgbClr val="5F636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Final Product Link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  <a:hlinkClick r:id="rId6"/>
              </a:rPr>
              <a:t>leafit.cloud.run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