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leafit_studio_plan.jp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7.png"/><Relationship Id="rId11" Type="http://schemas.openxmlformats.org/officeDocument/2006/relationships/image" Target="../media/image22.png"/><Relationship Id="rId12" Type="http://schemas.openxmlformats.org/officeDocument/2006/relationships/image" Target="../media/image6.png"/><Relationship Id="rId13" Type="http://schemas.openxmlformats.org/officeDocument/2006/relationships/image" Target="../media/image13.png"/><Relationship Id="rId14" Type="http://schemas.openxmlformats.org/officeDocument/2006/relationships/image" Target="../media/image15.png"/><Relationship Id="rId15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leafit_home.jpg"/><Relationship Id="rId6" Type="http://schemas.openxmlformats.org/officeDocument/2006/relationships/image" Target="../media/leafit_explore.jpg"/><Relationship Id="rId7" Type="http://schemas.openxmlformats.org/officeDocument/2006/relationships/image" Target="../media/leafit_ai_result.jpg"/><Relationship Id="rId8" Type="http://schemas.openxmlformats.org/officeDocument/2006/relationships/image" Target="../media/leafit_review.jp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20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Relationship Id="rId22" Type="http://schemas.openxmlformats.org/officeDocument/2006/relationships/image" Target="../media/image44.png"/><Relationship Id="rId23" Type="http://schemas.openxmlformats.org/officeDocument/2006/relationships/image" Target="../media/image45.png"/><Relationship Id="rId24" Type="http://schemas.openxmlformats.org/officeDocument/2006/relationships/image" Target="../media/image46.png"/><Relationship Id="rId25" Type="http://schemas.openxmlformats.org/officeDocument/2006/relationships/image" Target="../media/image47.png"/><Relationship Id="rId26" Type="http://schemas.openxmlformats.org/officeDocument/2006/relationships/image" Target="../media/image48.png"/><Relationship Id="rId27" Type="http://schemas.openxmlformats.org/officeDocument/2006/relationships/image" Target="../media/image49.png"/><Relationship Id="rId28" Type="http://schemas.openxmlformats.org/officeDocument/2006/relationships/image" Target="../media/image50.png"/><Relationship Id="rId29" Type="http://schemas.openxmlformats.org/officeDocument/2006/relationships/image" Target="../media/image51.png"/><Relationship Id="rId30" Type="http://schemas.openxmlformats.org/officeDocument/2006/relationships/image" Target="../media/image52.png"/><Relationship Id="rId31" Type="http://schemas.openxmlformats.org/officeDocument/2006/relationships/image" Target="../media/image53.png"/><Relationship Id="rId32" Type="http://schemas.openxmlformats.org/officeDocument/2006/relationships/image" Target="../media/image54.png"/><Relationship Id="rId33" Type="http://schemas.openxmlformats.org/officeDocument/2006/relationships/image" Target="../media/image55.png"/><Relationship Id="rId34" Type="http://schemas.openxmlformats.org/officeDocument/2006/relationships/image" Target="../media/image5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43.png"/><Relationship Id="rId6" Type="http://schemas.openxmlformats.org/officeDocument/2006/relationships/image" Target="../media/image55.png"/><Relationship Id="rId7" Type="http://schemas.openxmlformats.org/officeDocument/2006/relationships/image" Target="../media/image34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57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5.png"/><Relationship Id="rId14" Type="http://schemas.openxmlformats.org/officeDocument/2006/relationships/image" Target="../media/image50.png"/><Relationship Id="rId15" Type="http://schemas.openxmlformats.org/officeDocument/2006/relationships/image" Target="../media/image58.png"/><Relationship Id="rId16" Type="http://schemas.openxmlformats.org/officeDocument/2006/relationships/image" Target="../media/image14.png"/><Relationship Id="rId17" Type="http://schemas.openxmlformats.org/officeDocument/2006/relationships/image" Target="../media/image5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leafit_studio_plan.jpg"/><Relationship Id="rId6" Type="http://schemas.openxmlformats.org/officeDocument/2006/relationships/image" Target="../media/leafit_ai_result.jp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59.png"/><Relationship Id="rId8" Type="http://schemas.openxmlformats.org/officeDocument/2006/relationships/image" Target="../media/image64.png"/><Relationship Id="rId9" Type="http://schemas.openxmlformats.org/officeDocument/2006/relationships/image" Target="../media/image58.png"/><Relationship Id="rId10" Type="http://schemas.openxmlformats.org/officeDocument/2006/relationships/image" Target="../media/image6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github.com/lohiyakeshav/LeafIt" TargetMode="External"/><Relationship Id="rId6" Type="http://schemas.openxmlformats.org/officeDocument/2006/relationships/hyperlink" Target="https://leafit.cloud.run" TargetMode="External"/><Relationship Id="rId7" Type="http://schemas.openxmlformats.org/officeDocument/2006/relationships/hyperlink" Target="https://drive.google.com/file/d/1mLXgTHEWch1o-BW0rdctq1ABphMi_sK8/view?usp=sharing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Friendly Neighbourhood Devs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Keshav Lohiya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Sustainability &amp; Social Impact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Build an AI-powered solution that addresses a meaningful environmental or societal challenge. Solutions may focus on improving resource efficiency, increasing accessibility, strengthening resilience, supporting communities, or enabling more informed and sustainable decision-making.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5760" y="1115568"/>
            <a:ext cx="4160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LeafIt turns a hot city block into a costed, people-first cooling plan, built on real satellite data and planned with Gemini.</a:t>
            </a:r>
          </a:p>
        </p:txBody>
      </p:sp>
      <p:sp>
        <p:nvSpPr>
          <p:cNvPr id="73" name="Oval 72"/>
          <p:cNvSpPr/>
          <p:nvPr/>
        </p:nvSpPr>
        <p:spPr>
          <a:xfrm>
            <a:off x="365760" y="2057400"/>
            <a:ext cx="384048" cy="384048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4" name="Picture 73" descr="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50" y="2141890"/>
            <a:ext cx="215066" cy="215066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68680" y="2039112"/>
            <a:ext cx="3611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See the real place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Mark any neighbourhood on Google's satellite map; LeafIt builds a 3D twin with its measured heat, trees, buildings and residents.</a:t>
            </a:r>
          </a:p>
        </p:txBody>
      </p:sp>
      <p:sp>
        <p:nvSpPr>
          <p:cNvPr id="76" name="Oval 75"/>
          <p:cNvSpPr/>
          <p:nvPr/>
        </p:nvSpPr>
        <p:spPr>
          <a:xfrm>
            <a:off x="365760" y="2807208"/>
            <a:ext cx="384048" cy="384048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7" name="Picture 76" descr="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50" y="2891698"/>
            <a:ext cx="215066" cy="21506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68680" y="2788920"/>
            <a:ext cx="3611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Plan in plain words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Place trees, cool roofs and shaded bus stops yourself, or give Gemini a brief and a budget and let it test the options.</a:t>
            </a:r>
          </a:p>
        </p:txBody>
      </p:sp>
      <p:sp>
        <p:nvSpPr>
          <p:cNvPr id="79" name="Oval 78"/>
          <p:cNvSpPr/>
          <p:nvPr/>
        </p:nvSpPr>
        <p:spPr>
          <a:xfrm>
            <a:off x="365760" y="3557015"/>
            <a:ext cx="384048" cy="384048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0" name="Picture 79" descr="a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250" y="3641506"/>
            <a:ext cx="215066" cy="21506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68680" y="3538727"/>
            <a:ext cx="3611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Act on it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Before-and-after heat for each place, a bill of materials, a funding proposal and nearby vendors to quote.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5760" y="4370832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For </a:t>
            </a: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residents' associations, ward officers, NGOs and CSR teams</a:t>
            </a: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who fund cooling but can't test a plan before paying for it.</a:t>
            </a:r>
          </a:p>
        </p:txBody>
      </p:sp>
      <p:pic>
        <p:nvPicPr>
          <p:cNvPr id="83" name="Picture 82" descr="4a-studio-plan-abo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1143000"/>
            <a:ext cx="4023360" cy="251460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754880" y="376732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Lajpat Nagar Central Market, New Delhi · </a:t>
            </a: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Gemini's ₹20 lakh plan: 466 trees and 69 cool roofs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65760" y="1188720"/>
            <a:ext cx="2697480" cy="3611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594360" y="138988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2" name="Picture 81" descr="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490472"/>
            <a:ext cx="256032" cy="25603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94360" y="20116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How it is different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" y="2423160"/>
            <a:ext cx="22402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Heat maps show where a city is hot. LeafIt shows what to do about it: which mix of trees, cool roofs and shelters, where, for whom and at what cost.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3950208"/>
            <a:ext cx="224028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31520" y="3950208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188038"/>
                </a:solidFill>
                <a:latin typeface="Google Sans Flex Medium"/>
                <a:ea typeface="Google Sans Flex Medium"/>
                <a:cs typeface="Google Sans Flex Medium"/>
              </a:rPr>
              <a:t>Starts from the shade already there, so trees are not wasted.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218688" y="1188720"/>
            <a:ext cx="2697480" cy="3611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3447288" y="138988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9" name="Picture 88" descr="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1490472"/>
            <a:ext cx="256032" cy="256032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3447288" y="20116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How it solves the problem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47288" y="2423160"/>
            <a:ext cx="22402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From one sentence and a budget to a tested, costed plan in about a minute, then on to a funding proposal and vendor quotes.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447288" y="3950208"/>
            <a:ext cx="224028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584448" y="3950208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188038"/>
                </a:solidFill>
                <a:latin typeface="Google Sans Flex Medium"/>
                <a:ea typeface="Google Sans Flex Medium"/>
                <a:cs typeface="Google Sans Flex Medium"/>
              </a:rPr>
              <a:t>Guesswork becomes a plan you can defend.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071616" y="1188720"/>
            <a:ext cx="2697480" cy="3611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6300216" y="138988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6" name="Picture 95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490472"/>
            <a:ext cx="256032" cy="256032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300216" y="20116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What makes it unique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00216" y="2423160"/>
            <a:ext cx="22402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Honest numbers. Every coefficient is cited, cooling is shown as a low-to-high range, and every figure Gemini writes is checked against the simulator.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300216" y="3950208"/>
            <a:ext cx="224028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6437376" y="3950208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188038"/>
                </a:solidFill>
                <a:latin typeface="Google Sans Flex Medium"/>
                <a:ea typeface="Google Sans Flex Medium"/>
                <a:cs typeface="Google Sans Flex Medium"/>
              </a:rPr>
              <a:t>Gemini decides; the code calculates.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65760" y="11887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594360" y="14081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0" name="Picture 89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508760"/>
            <a:ext cx="256032" cy="256032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594360" y="19751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3D twin from real data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2286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Satellite heat, existing trees, buildings, residents and roads, on 10-metre cells.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218688" y="11887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3447288" y="14081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5" name="Picture 94" descr="tr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1508760"/>
            <a:ext cx="256032" cy="25603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3447288" y="19751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Design studio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47288" y="2286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Place trees, cool roofs and bus shelters; the numbers update instantly.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071616" y="11887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6300216" y="14081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508760"/>
            <a:ext cx="256032" cy="256032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6300216" y="19751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Gemini planner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00216" y="2286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Tests several plans, checks its own work and explains each zone.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65760" y="3035808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594360" y="32552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5" name="Picture 104" descr="peo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" y="3355848"/>
            <a:ext cx="256032" cy="256032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594360" y="38221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People first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94360" y="41330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Cooling where young children and older residents live, not just the average.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218688" y="3035808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3447288" y="32552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0" name="Picture 109" descr="hea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7872" y="3355848"/>
            <a:ext cx="256032" cy="256032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3447288" y="38221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Before and after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47288" y="41330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Measured heat today against the plan, place by place, in degrees.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071616" y="3035808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6300216" y="32552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5" name="Picture 114" descr="st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355848"/>
            <a:ext cx="256032" cy="256032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6300216" y="38221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Fund and build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00216" y="41330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Bill of materials, funding proposal and real local vendors with a ready quote.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65760" y="107899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USER JOURNEY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132588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98" name="Picture 97" descr="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1444752"/>
            <a:ext cx="256032" cy="256032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93776" y="1737360"/>
            <a:ext cx="1060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1 · Find</a:t>
            </a:r>
          </a:p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Search a place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636776" y="1805940"/>
            <a:ext cx="135331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01" name="Rounded Rectangle 100"/>
          <p:cNvSpPr/>
          <p:nvPr/>
        </p:nvSpPr>
        <p:spPr>
          <a:xfrm>
            <a:off x="1799539" y="132588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02" name="Picture 101" descr="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7555" y="1444752"/>
            <a:ext cx="256032" cy="256032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1927555" y="1737360"/>
            <a:ext cx="1060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2 · Mark</a:t>
            </a:r>
          </a:p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Drag a box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070555" y="1805940"/>
            <a:ext cx="135331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05" name="Rounded Rectangle 104"/>
          <p:cNvSpPr/>
          <p:nvPr/>
        </p:nvSpPr>
        <p:spPr>
          <a:xfrm>
            <a:off x="3233318" y="132588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06" name="Picture 105" descr="tw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334" y="1444752"/>
            <a:ext cx="256032" cy="256032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3361334" y="1737360"/>
            <a:ext cx="1060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3 · Twin</a:t>
            </a:r>
          </a:p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Real data in 3D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4504334" y="1805940"/>
            <a:ext cx="135331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09" name="Rounded Rectangle 108"/>
          <p:cNvSpPr/>
          <p:nvPr/>
        </p:nvSpPr>
        <p:spPr>
          <a:xfrm>
            <a:off x="4667097" y="132588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18803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10" name="Picture 109" descr="ai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5113" y="1444752"/>
            <a:ext cx="256032" cy="256032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4795113" y="1737360"/>
            <a:ext cx="1060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4 · Plan</a:t>
            </a:r>
          </a:p>
          <a:p>
            <a:pPr algn="l">
              <a:lnSpc>
                <a:spcPct val="108000"/>
              </a:lnSpc>
            </a:pPr>
            <a:r>
              <a:rPr sz="9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By hand or with Gemini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5938113" y="1805940"/>
            <a:ext cx="135331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13" name="Rounded Rectangle 112"/>
          <p:cNvSpPr/>
          <p:nvPr/>
        </p:nvSpPr>
        <p:spPr>
          <a:xfrm>
            <a:off x="6100876" y="132588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14" name="Picture 113" descr="revie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8892" y="1444752"/>
            <a:ext cx="256032" cy="256032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6228892" y="1737360"/>
            <a:ext cx="1060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5 · Review</a:t>
            </a:r>
          </a:p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Before and after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7371892" y="1805940"/>
            <a:ext cx="135332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17" name="Rounded Rectangle 116"/>
          <p:cNvSpPr/>
          <p:nvPr/>
        </p:nvSpPr>
        <p:spPr>
          <a:xfrm>
            <a:off x="7534656" y="132588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18" name="Picture 117" descr="ac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2672" y="1444752"/>
            <a:ext cx="256032" cy="256032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7662672" y="1737360"/>
            <a:ext cx="1060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6 · Act</a:t>
            </a:r>
          </a:p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Fund and build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248716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ONE REAL RUN · LAJPAT NAGAR, NEW DELHI · ₹20 LAKH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65760" y="2743200"/>
            <a:ext cx="1554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512064" y="2880360"/>
            <a:ext cx="365760" cy="365760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3" name="Picture 122" descr="brie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531" y="2960827"/>
            <a:ext cx="204825" cy="204825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512064" y="33101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The brief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12064" y="3584448"/>
            <a:ext cx="12984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“Keep shoppers and school children cool, and protect elderly residents in dense homes.”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1938528" y="3675887"/>
            <a:ext cx="123444" cy="0"/>
          </a:xfrm>
          <a:prstGeom prst="line">
            <a:avLst/>
          </a:prstGeom>
          <a:ln w="15875">
            <a:solidFill>
              <a:srgbClr val="188038"/>
            </a:solidFill>
            <a:tailEnd type="triangle" w="med" h="med"/>
          </a:ln>
        </p:spPr>
      </p:cxnSp>
      <p:sp>
        <p:nvSpPr>
          <p:cNvPr id="127" name="Rounded Rectangle 126"/>
          <p:cNvSpPr/>
          <p:nvPr/>
        </p:nvSpPr>
        <p:spPr>
          <a:xfrm>
            <a:off x="2080260" y="2743200"/>
            <a:ext cx="1554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2226564" y="2880360"/>
            <a:ext cx="365760" cy="365760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Picture 128" descr="a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07031" y="2960827"/>
            <a:ext cx="204825" cy="204825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2226564" y="33101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Gemini works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226564" y="3584448"/>
            <a:ext cx="12984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Reads the heat, trees and people; tests 3 plans; checks 2 of them itself.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3653027" y="3675887"/>
            <a:ext cx="123445" cy="0"/>
          </a:xfrm>
          <a:prstGeom prst="line">
            <a:avLst/>
          </a:prstGeom>
          <a:ln w="15875">
            <a:solidFill>
              <a:srgbClr val="188038"/>
            </a:solidFill>
            <a:tailEnd type="triangle" w="med" h="med"/>
          </a:ln>
        </p:spPr>
      </p:cxnSp>
      <p:sp>
        <p:nvSpPr>
          <p:cNvPr id="133" name="Rounded Rectangle 132"/>
          <p:cNvSpPr/>
          <p:nvPr/>
        </p:nvSpPr>
        <p:spPr>
          <a:xfrm>
            <a:off x="3794760" y="2743200"/>
            <a:ext cx="1554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3941064" y="2880360"/>
            <a:ext cx="365760" cy="365760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5" name="Picture 134" descr="tre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21531" y="2960827"/>
            <a:ext cx="204825" cy="204825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3941064" y="33101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The plan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41064" y="3584448"/>
            <a:ext cx="12984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466 trees and 69 cool roofs; 497 residents get a cooler roof.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5367528" y="3675887"/>
            <a:ext cx="123444" cy="0"/>
          </a:xfrm>
          <a:prstGeom prst="line">
            <a:avLst/>
          </a:prstGeom>
          <a:ln w="15875">
            <a:solidFill>
              <a:srgbClr val="188038"/>
            </a:solidFill>
            <a:tailEnd type="triangle" w="med" h="med"/>
          </a:ln>
        </p:spPr>
      </p:cxnSp>
      <p:sp>
        <p:nvSpPr>
          <p:cNvPr id="139" name="Rounded Rectangle 138"/>
          <p:cNvSpPr/>
          <p:nvPr/>
        </p:nvSpPr>
        <p:spPr>
          <a:xfrm>
            <a:off x="5509260" y="2743200"/>
            <a:ext cx="1554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0" name="Oval 139"/>
          <p:cNvSpPr/>
          <p:nvPr/>
        </p:nvSpPr>
        <p:spPr>
          <a:xfrm>
            <a:off x="5655564" y="2880360"/>
            <a:ext cx="365760" cy="365760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1" name="Picture 140" descr="hea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36031" y="2960827"/>
            <a:ext cx="204825" cy="204825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5655564" y="33101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The result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655564" y="3584448"/>
            <a:ext cx="12984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Lajpat Nagar Market 42.7° → 41.9°
School 41.6° → 41.2°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8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Ground temperature, today → with plan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7082028" y="3675887"/>
            <a:ext cx="123444" cy="0"/>
          </a:xfrm>
          <a:prstGeom prst="line">
            <a:avLst/>
          </a:prstGeom>
          <a:ln w="15875">
            <a:solidFill>
              <a:srgbClr val="188038"/>
            </a:solidFill>
            <a:tailEnd type="triangle" w="med" h="med"/>
          </a:ln>
        </p:spPr>
      </p:cxnSp>
      <p:sp>
        <p:nvSpPr>
          <p:cNvPr id="145" name="Rounded Rectangle 144"/>
          <p:cNvSpPr/>
          <p:nvPr/>
        </p:nvSpPr>
        <p:spPr>
          <a:xfrm>
            <a:off x="7223760" y="2743200"/>
            <a:ext cx="1554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6" name="Oval 145"/>
          <p:cNvSpPr/>
          <p:nvPr/>
        </p:nvSpPr>
        <p:spPr>
          <a:xfrm>
            <a:off x="7370064" y="2880360"/>
            <a:ext cx="365760" cy="365760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7" name="Picture 146" descr="bil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0531" y="2960827"/>
            <a:ext cx="204825" cy="204825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7370064" y="33101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Ready to act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70064" y="3584448"/>
            <a:ext cx="12984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Bill of materials, funding proposal and local nurseries and contractors.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 and mock diagrams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2-explo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1143000"/>
            <a:ext cx="2809036" cy="175564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3339388" y="1188720"/>
            <a:ext cx="115945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1 · Find and mark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Search a place and drag a box on the satellite map.</a:t>
            </a:r>
          </a:p>
        </p:txBody>
      </p:sp>
      <p:pic>
        <p:nvPicPr>
          <p:cNvPr id="106" name="Picture 105" descr="4c-studio-plan-hea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5152" y="1143000"/>
            <a:ext cx="2809036" cy="175564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7618779" y="1188720"/>
            <a:ext cx="11594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2 · Design in 3D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The area's real heat; place trees, roofs and shelters.</a:t>
            </a:r>
          </a:p>
        </p:txBody>
      </p:sp>
      <p:pic>
        <p:nvPicPr>
          <p:cNvPr id="108" name="Picture 107" descr="3c-ai-resul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" y="3044952"/>
            <a:ext cx="2809036" cy="175564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3339388" y="3090672"/>
            <a:ext cx="115945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3 · Ask Gemini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 brief and a budget in; a tested, explained plan out.</a:t>
            </a:r>
          </a:p>
        </p:txBody>
      </p:sp>
      <p:pic>
        <p:nvPicPr>
          <p:cNvPr id="110" name="Picture 109" descr="6b-quo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5152" y="3044952"/>
            <a:ext cx="2809036" cy="175564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7618779" y="3090672"/>
            <a:ext cx="11594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4 · Fund and build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Real local vendors and a quote message, ready to send.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20040" y="1115568"/>
            <a:ext cx="89611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AA0A6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429768" y="1170432"/>
            <a:ext cx="713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USERS</a:t>
            </a:r>
          </a:p>
        </p:txBody>
      </p:sp>
      <p:sp>
        <p:nvSpPr>
          <p:cNvPr id="114" name="Oval 113"/>
          <p:cNvSpPr/>
          <p:nvPr/>
        </p:nvSpPr>
        <p:spPr>
          <a:xfrm>
            <a:off x="548640" y="1572768"/>
            <a:ext cx="420624" cy="420624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5" name="Picture 114" descr="per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1665305"/>
            <a:ext cx="235549" cy="235549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347472" y="2029967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Residents</a:t>
            </a:r>
          </a:p>
        </p:txBody>
      </p:sp>
      <p:sp>
        <p:nvSpPr>
          <p:cNvPr id="117" name="Oval 116"/>
          <p:cNvSpPr/>
          <p:nvPr/>
        </p:nvSpPr>
        <p:spPr>
          <a:xfrm>
            <a:off x="548640" y="2487168"/>
            <a:ext cx="420624" cy="420624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8" name="Picture 117" descr="go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77" y="2579705"/>
            <a:ext cx="235549" cy="235549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347472" y="2944368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Ward officers</a:t>
            </a:r>
          </a:p>
        </p:txBody>
      </p:sp>
      <p:sp>
        <p:nvSpPr>
          <p:cNvPr id="120" name="Oval 119"/>
          <p:cNvSpPr/>
          <p:nvPr/>
        </p:nvSpPr>
        <p:spPr>
          <a:xfrm>
            <a:off x="548640" y="3401568"/>
            <a:ext cx="420624" cy="420624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1" name="Picture 120" descr="n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7" y="3494105"/>
            <a:ext cx="235549" cy="235549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347472" y="3858768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NGOs, CSR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243584" y="2715768"/>
            <a:ext cx="173736" cy="0"/>
          </a:xfrm>
          <a:prstGeom prst="line">
            <a:avLst/>
          </a:prstGeom>
          <a:ln w="15875">
            <a:solidFill>
              <a:srgbClr val="188038"/>
            </a:solidFill>
            <a:tailEnd type="triangle" w="med" h="med"/>
          </a:ln>
        </p:spPr>
      </p:cxnSp>
      <p:sp>
        <p:nvSpPr>
          <p:cNvPr id="124" name="Rounded Rectangle 123"/>
          <p:cNvSpPr/>
          <p:nvPr/>
        </p:nvSpPr>
        <p:spPr>
          <a:xfrm>
            <a:off x="1444752" y="1115568"/>
            <a:ext cx="162763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AA0A6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1554480" y="1170432"/>
            <a:ext cx="1444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WEB APP · BROWSER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554480" y="1463040"/>
            <a:ext cx="1417320" cy="566928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7" name="Picture 126" descr="b-rea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7632" y="1645920"/>
            <a:ext cx="201168" cy="20116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1883664" y="1463040"/>
            <a:ext cx="1051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React</a:t>
            </a:r>
          </a:p>
          <a:p>
            <a:pPr algn="l">
              <a:lnSpc>
                <a:spcPct val="108000"/>
              </a:lnSpc>
            </a:pPr>
            <a:r>
              <a:rPr sz="7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screens and 3D studio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554480" y="2176272"/>
            <a:ext cx="1417320" cy="566928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0" name="Picture 129" descr="b-thre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7632" y="2359152"/>
            <a:ext cx="201168" cy="201168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1883664" y="2176272"/>
            <a:ext cx="1051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three.js</a:t>
            </a:r>
          </a:p>
          <a:p>
            <a:pPr algn="l">
              <a:lnSpc>
                <a:spcPct val="108000"/>
              </a:lnSpc>
            </a:pPr>
            <a:r>
              <a:rPr sz="7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3D twin of the area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554480" y="2889504"/>
            <a:ext cx="1417320" cy="566928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3" name="Picture 132" descr="work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7632" y="3072384"/>
            <a:ext cx="201168" cy="201168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1883664" y="2889504"/>
            <a:ext cx="1051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Web Worker</a:t>
            </a:r>
          </a:p>
          <a:p>
            <a:pPr algn="l">
              <a:lnSpc>
                <a:spcPct val="108000"/>
              </a:lnSpc>
            </a:pPr>
            <a:r>
              <a:rPr sz="7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simulator, instant numbers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554480" y="3602736"/>
            <a:ext cx="1417320" cy="566928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6" name="Picture 135" descr="b-map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7632" y="3785615"/>
            <a:ext cx="201168" cy="201168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1883664" y="3602736"/>
            <a:ext cx="1051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Maps JS, Map Tiles</a:t>
            </a:r>
          </a:p>
          <a:p>
            <a:pPr algn="l">
              <a:lnSpc>
                <a:spcPct val="108000"/>
              </a:lnSpc>
            </a:pPr>
            <a:r>
              <a:rPr sz="7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search, satellite ground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3099816" y="2514600"/>
            <a:ext cx="246888" cy="0"/>
          </a:xfrm>
          <a:prstGeom prst="line">
            <a:avLst/>
          </a:prstGeom>
          <a:ln w="15875">
            <a:solidFill>
              <a:srgbClr val="188038"/>
            </a:solidFill>
            <a:tailEnd type="triangle" w="med" h="med"/>
          </a:ln>
        </p:spPr>
      </p:cxnSp>
      <p:cxnSp>
        <p:nvCxnSpPr>
          <p:cNvPr id="139" name="Connector 138"/>
          <p:cNvCxnSpPr/>
          <p:nvPr/>
        </p:nvCxnSpPr>
        <p:spPr>
          <a:xfrm flipH="1">
            <a:off x="3099816" y="2926080"/>
            <a:ext cx="246888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40" name="TextBox 139"/>
          <p:cNvSpPr txBox="1"/>
          <p:nvPr/>
        </p:nvSpPr>
        <p:spPr>
          <a:xfrm>
            <a:off x="3044952" y="21762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50">
                <a:solidFill>
                  <a:srgbClr val="188038"/>
                </a:solidFill>
                <a:latin typeface="Google Sans Flex Medium"/>
                <a:ea typeface="Google Sans Flex Medium"/>
                <a:cs typeface="Google Sans Flex Medium"/>
              </a:rPr>
              <a:t>HTTPS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044952" y="29626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5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</a:rPr>
              <a:t>JSON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374136" y="1115568"/>
            <a:ext cx="2615184" cy="32004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9AA0A6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3483864" y="1170432"/>
            <a:ext cx="24323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GOOGLE CLOUD RUN</a:t>
            </a:r>
          </a:p>
        </p:txBody>
      </p:sp>
      <p:pic>
        <p:nvPicPr>
          <p:cNvPr id="144" name="Picture 143" descr="b-dock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38928" y="1179576"/>
            <a:ext cx="201168" cy="201168"/>
          </a:xfrm>
          <a:prstGeom prst="rect">
            <a:avLst/>
          </a:prstGeom>
        </p:spPr>
      </p:pic>
      <p:pic>
        <p:nvPicPr>
          <p:cNvPr id="145" name="Picture 144" descr="b-pyth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04104" y="1179576"/>
            <a:ext cx="201168" cy="201168"/>
          </a:xfrm>
          <a:prstGeom prst="rect">
            <a:avLst/>
          </a:prstGeom>
        </p:spPr>
      </p:pic>
      <p:pic>
        <p:nvPicPr>
          <p:cNvPr id="146" name="Picture 145" descr="b-fastapi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69280" y="1179576"/>
            <a:ext cx="201168" cy="201168"/>
          </a:xfrm>
          <a:prstGeom prst="rect">
            <a:avLst/>
          </a:prstGeom>
        </p:spPr>
      </p:pic>
      <p:sp>
        <p:nvSpPr>
          <p:cNvPr id="147" name="Rounded Rectangle 146"/>
          <p:cNvSpPr/>
          <p:nvPr/>
        </p:nvSpPr>
        <p:spPr>
          <a:xfrm>
            <a:off x="3483864" y="1463040"/>
            <a:ext cx="1143000" cy="850392"/>
          </a:xfrm>
          <a:prstGeom prst="roundRect">
            <a:avLst>
              <a:gd name="adj" fmla="val 10000"/>
            </a:avLst>
          </a:prstGeom>
          <a:solidFill>
            <a:srgbClr val="1E1F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8" name="Picture 147" descr="mod-twi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75304" y="1554480"/>
            <a:ext cx="219456" cy="219456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3575304" y="1810512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Area builder</a:t>
            </a:r>
          </a:p>
          <a:p>
            <a:pPr algn="l">
              <a:lnSpc>
                <a:spcPct val="108000"/>
              </a:lnSpc>
            </a:pPr>
            <a:r>
              <a:rPr sz="700">
                <a:solidFill>
                  <a:srgbClr val="BDC1C6"/>
                </a:solidFill>
                <a:latin typeface="Google Sans Flex"/>
                <a:ea typeface="Google Sans Flex"/>
                <a:cs typeface="Google Sans Flex"/>
              </a:rPr>
              <a:t>fuses 9 data sources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700016" y="1463040"/>
            <a:ext cx="1143000" cy="850392"/>
          </a:xfrm>
          <a:prstGeom prst="roundRect">
            <a:avLst>
              <a:gd name="adj" fmla="val 10000"/>
            </a:avLst>
          </a:prstGeom>
          <a:solidFill>
            <a:srgbClr val="1E1F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1" name="Picture 150" descr="mod-sim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91456" y="1554480"/>
            <a:ext cx="219456" cy="219456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4791456" y="1810512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Simulator, optimiser</a:t>
            </a:r>
          </a:p>
          <a:p>
            <a:pPr algn="l">
              <a:lnSpc>
                <a:spcPct val="108000"/>
              </a:lnSpc>
            </a:pPr>
            <a:r>
              <a:rPr sz="700">
                <a:solidFill>
                  <a:srgbClr val="BDC1C6"/>
                </a:solidFill>
                <a:latin typeface="Google Sans Flex"/>
                <a:ea typeface="Google Sans Flex"/>
                <a:cs typeface="Google Sans Flex"/>
              </a:rPr>
              <a:t>NumPy, SciPy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483864" y="2404872"/>
            <a:ext cx="1143000" cy="850392"/>
          </a:xfrm>
          <a:prstGeom prst="roundRect">
            <a:avLst>
              <a:gd name="adj" fmla="val 10000"/>
            </a:avLst>
          </a:prstGeom>
          <a:solidFill>
            <a:srgbClr val="1E1F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" name="Picture 153" descr="ai-w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75304" y="2496312"/>
            <a:ext cx="219456" cy="219456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3575304" y="2752344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Gemini agent</a:t>
            </a:r>
          </a:p>
          <a:p>
            <a:pPr algn="l">
              <a:lnSpc>
                <a:spcPct val="108000"/>
              </a:lnSpc>
            </a:pPr>
            <a:r>
              <a:rPr sz="700">
                <a:solidFill>
                  <a:srgbClr val="BDC1C6"/>
                </a:solidFill>
                <a:latin typeface="Google Sans Flex"/>
                <a:ea typeface="Google Sans Flex"/>
                <a:cs typeface="Google Sans Flex"/>
              </a:rPr>
              <a:t>5 tools, self-check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700016" y="2404872"/>
            <a:ext cx="1143000" cy="850392"/>
          </a:xfrm>
          <a:prstGeom prst="roundRect">
            <a:avLst>
              <a:gd name="adj" fmla="val 10000"/>
            </a:avLst>
          </a:prstGeom>
          <a:solidFill>
            <a:srgbClr val="1E1F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7" name="Picture 156" descr="mod-che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91456" y="2496312"/>
            <a:ext cx="219456" cy="219456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4791456" y="2752344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Numbers guardrail</a:t>
            </a:r>
          </a:p>
          <a:p>
            <a:pPr algn="l">
              <a:lnSpc>
                <a:spcPct val="108000"/>
              </a:lnSpc>
            </a:pPr>
            <a:r>
              <a:rPr sz="700">
                <a:solidFill>
                  <a:srgbClr val="BDC1C6"/>
                </a:solidFill>
                <a:latin typeface="Google Sans Flex"/>
                <a:ea typeface="Google Sans Flex"/>
                <a:cs typeface="Google Sans Flex"/>
              </a:rPr>
              <a:t>every figure traced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483864" y="3346704"/>
            <a:ext cx="1143000" cy="850392"/>
          </a:xfrm>
          <a:prstGeom prst="roundRect">
            <a:avLst>
              <a:gd name="adj" fmla="val 10000"/>
            </a:avLst>
          </a:prstGeom>
          <a:solidFill>
            <a:srgbClr val="1E1F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60" name="Picture 159" descr="mod-fil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75304" y="3438144"/>
            <a:ext cx="219456" cy="219456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3575304" y="3694176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Proposal writer</a:t>
            </a:r>
          </a:p>
          <a:p>
            <a:pPr algn="l">
              <a:lnSpc>
                <a:spcPct val="108000"/>
              </a:lnSpc>
            </a:pPr>
            <a:r>
              <a:rPr sz="700">
                <a:solidFill>
                  <a:srgbClr val="BDC1C6"/>
                </a:solidFill>
                <a:latin typeface="Google Sans Flex"/>
                <a:ea typeface="Google Sans Flex"/>
                <a:cs typeface="Google Sans Flex"/>
              </a:rPr>
              <a:t>funding draft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700016" y="3346704"/>
            <a:ext cx="1143000" cy="850392"/>
          </a:xfrm>
          <a:prstGeom prst="roundRect">
            <a:avLst>
              <a:gd name="adj" fmla="val 10000"/>
            </a:avLst>
          </a:prstGeom>
          <a:solidFill>
            <a:srgbClr val="1E1F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63" name="Picture 162" descr="mod-db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91456" y="3438144"/>
            <a:ext cx="219456" cy="219456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4791456" y="3694176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Area and plan cache</a:t>
            </a:r>
          </a:p>
          <a:p>
            <a:pPr algn="l">
              <a:lnSpc>
                <a:spcPct val="108000"/>
              </a:lnSpc>
            </a:pPr>
            <a:r>
              <a:rPr sz="700">
                <a:solidFill>
                  <a:srgbClr val="BDC1C6"/>
                </a:solidFill>
                <a:latin typeface="Google Sans Flex"/>
                <a:ea typeface="Google Sans Flex"/>
                <a:cs typeface="Google Sans Flex"/>
              </a:rPr>
              <a:t>built once, expires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6016752" y="1536192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cxnSp>
        <p:nvCxnSpPr>
          <p:cNvPr id="166" name="Connector 165"/>
          <p:cNvCxnSpPr/>
          <p:nvPr/>
        </p:nvCxnSpPr>
        <p:spPr>
          <a:xfrm>
            <a:off x="6016752" y="2587752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cxnSp>
        <p:nvCxnSpPr>
          <p:cNvPr id="167" name="Connector 166"/>
          <p:cNvCxnSpPr/>
          <p:nvPr/>
        </p:nvCxnSpPr>
        <p:spPr>
          <a:xfrm>
            <a:off x="6016752" y="3749039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68" name="Rounded Rectangle 167"/>
          <p:cNvSpPr/>
          <p:nvPr/>
        </p:nvSpPr>
        <p:spPr>
          <a:xfrm>
            <a:off x="6227064" y="1115568"/>
            <a:ext cx="259689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AA0A6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6336792" y="1170432"/>
            <a:ext cx="24140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AI · VERTEX AI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336792" y="1389888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1" name="Picture 170" descr="b-gemini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9944" y="1517904"/>
            <a:ext cx="201168" cy="201168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6665976" y="138988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Gemini</a:t>
            </a:r>
          </a:p>
          <a:p>
            <a:pPr algn="l">
              <a:lnSpc>
                <a:spcPct val="108000"/>
              </a:lnSpc>
            </a:pPr>
            <a:r>
              <a:rPr sz="7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function calling · vision on maps · thinking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227064" y="2029968"/>
            <a:ext cx="259689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AA0A6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6336792" y="2084832"/>
            <a:ext cx="24140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GEOSPATIAL · GOOGLE EARTH ENGINE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336792" y="2304288"/>
            <a:ext cx="1152144" cy="256032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6" name="Picture 175" descr="b-landsat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9944" y="2331720"/>
            <a:ext cx="201168" cy="201168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6665976" y="2304288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Landsat heat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543800" y="2304288"/>
            <a:ext cx="1152144" cy="256032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9" name="Picture 178" descr="canopy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16952" y="2331720"/>
            <a:ext cx="201168" cy="201168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7872983" y="2304288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Tree canopy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6336792" y="2606040"/>
            <a:ext cx="1152144" cy="256032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2" name="Picture 181" descr="buildings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9944" y="2633472"/>
            <a:ext cx="201168" cy="201168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6665976" y="2606040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Open Buildings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7543800" y="2606040"/>
            <a:ext cx="1152144" cy="256032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5" name="Picture 184" descr="gri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16952" y="2633472"/>
            <a:ext cx="201168" cy="201168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7872983" y="2606040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WorldCover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336792" y="2907792"/>
            <a:ext cx="1152144" cy="256032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8" name="Picture 187" descr="pop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9944" y="2935224"/>
            <a:ext cx="201168" cy="201168"/>
          </a:xfrm>
          <a:prstGeom prst="rect">
            <a:avLst/>
          </a:prstGeom>
        </p:spPr>
      </p:pic>
      <p:sp>
        <p:nvSpPr>
          <p:cNvPr id="189" name="TextBox 188"/>
          <p:cNvSpPr txBox="1"/>
          <p:nvPr/>
        </p:nvSpPr>
        <p:spPr>
          <a:xfrm>
            <a:off x="6665976" y="2907792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WorldPop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6227064" y="3291840"/>
            <a:ext cx="2596896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AA0A6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191" name="TextBox 190"/>
          <p:cNvSpPr txBox="1"/>
          <p:nvPr/>
        </p:nvSpPr>
        <p:spPr>
          <a:xfrm>
            <a:off x="6336792" y="3346704"/>
            <a:ext cx="24140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MAPS PLATFORM · OPEN DATA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6336792" y="3566160"/>
            <a:ext cx="1152144" cy="292608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93" name="Picture 192" descr="b-map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9944" y="3611879"/>
            <a:ext cx="201168" cy="201168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6665976" y="3566160"/>
            <a:ext cx="7863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Places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7543800" y="3566160"/>
            <a:ext cx="1152144" cy="292608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96" name="Picture 195" descr="air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16952" y="3611879"/>
            <a:ext cx="201168" cy="201168"/>
          </a:xfrm>
          <a:prstGeom prst="rect">
            <a:avLst/>
          </a:prstGeom>
        </p:spPr>
      </p:pic>
      <p:sp>
        <p:nvSpPr>
          <p:cNvPr id="197" name="TextBox 196"/>
          <p:cNvSpPr txBox="1"/>
          <p:nvPr/>
        </p:nvSpPr>
        <p:spPr>
          <a:xfrm>
            <a:off x="7872983" y="3566160"/>
            <a:ext cx="7863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Air Quality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6336792" y="3913632"/>
            <a:ext cx="1152144" cy="292608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99" name="Picture 198" descr="b-osm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09944" y="3959352"/>
            <a:ext cx="201168" cy="201168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6665976" y="3913632"/>
            <a:ext cx="7863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OpenStreetMap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7543800" y="3913632"/>
            <a:ext cx="1152144" cy="292608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02" name="Picture 201" descr="sun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16952" y="3959352"/>
            <a:ext cx="201168" cy="201168"/>
          </a:xfrm>
          <a:prstGeom prst="rect">
            <a:avLst/>
          </a:prstGeom>
        </p:spPr>
      </p:pic>
      <p:sp>
        <p:nvSpPr>
          <p:cNvPr id="203" name="TextBox 202"/>
          <p:cNvSpPr txBox="1"/>
          <p:nvPr/>
        </p:nvSpPr>
        <p:spPr>
          <a:xfrm>
            <a:off x="7872983" y="3913632"/>
            <a:ext cx="7863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Open-Meteo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320040" y="4416552"/>
            <a:ext cx="8503920" cy="50292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9AA0A6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205" name="TextBox 204"/>
          <p:cNvSpPr txBox="1"/>
          <p:nvPr/>
        </p:nvSpPr>
        <p:spPr>
          <a:xfrm>
            <a:off x="429768" y="4471416"/>
            <a:ext cx="832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DELIVERY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1143000" y="4498848"/>
            <a:ext cx="132588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07" name="Picture 206" descr="b-github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16152" y="4562856"/>
            <a:ext cx="201168" cy="201168"/>
          </a:xfrm>
          <a:prstGeom prst="rect">
            <a:avLst/>
          </a:prstGeom>
        </p:spPr>
      </p:pic>
      <p:sp>
        <p:nvSpPr>
          <p:cNvPr id="208" name="TextBox 207"/>
          <p:cNvSpPr txBox="1"/>
          <p:nvPr/>
        </p:nvSpPr>
        <p:spPr>
          <a:xfrm>
            <a:off x="1472184" y="4498848"/>
            <a:ext cx="96011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GitHub</a:t>
            </a:r>
          </a:p>
        </p:txBody>
      </p:sp>
      <p:cxnSp>
        <p:nvCxnSpPr>
          <p:cNvPr id="209" name="Connector 208"/>
          <p:cNvCxnSpPr/>
          <p:nvPr/>
        </p:nvCxnSpPr>
        <p:spPr>
          <a:xfrm>
            <a:off x="2496312" y="4663440"/>
            <a:ext cx="219456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210" name="Rounded Rectangle 209"/>
          <p:cNvSpPr/>
          <p:nvPr/>
        </p:nvSpPr>
        <p:spPr>
          <a:xfrm>
            <a:off x="2743200" y="4498848"/>
            <a:ext cx="132588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11" name="Picture 210" descr="buil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816352" y="4562856"/>
            <a:ext cx="201168" cy="201168"/>
          </a:xfrm>
          <a:prstGeom prst="rect">
            <a:avLst/>
          </a:prstGeom>
        </p:spPr>
      </p:pic>
      <p:sp>
        <p:nvSpPr>
          <p:cNvPr id="212" name="TextBox 211"/>
          <p:cNvSpPr txBox="1"/>
          <p:nvPr/>
        </p:nvSpPr>
        <p:spPr>
          <a:xfrm>
            <a:off x="3072384" y="4498848"/>
            <a:ext cx="96011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Cloud Build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4096512" y="4663440"/>
            <a:ext cx="219456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214" name="Rounded Rectangle 213"/>
          <p:cNvSpPr/>
          <p:nvPr/>
        </p:nvSpPr>
        <p:spPr>
          <a:xfrm>
            <a:off x="4343400" y="4498848"/>
            <a:ext cx="132588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15" name="Picture 214" descr="registry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416552" y="4562856"/>
            <a:ext cx="201168" cy="201168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4672584" y="4498848"/>
            <a:ext cx="96011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Artifact Registry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5696712" y="4663440"/>
            <a:ext cx="219456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218" name="Rounded Rectangle 217"/>
          <p:cNvSpPr/>
          <p:nvPr/>
        </p:nvSpPr>
        <p:spPr>
          <a:xfrm>
            <a:off x="5943600" y="4498848"/>
            <a:ext cx="132588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19" name="Picture 218" descr="b-gclou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016752" y="4562856"/>
            <a:ext cx="201168" cy="201168"/>
          </a:xfrm>
          <a:prstGeom prst="rect">
            <a:avLst/>
          </a:prstGeom>
        </p:spPr>
      </p:pic>
      <p:sp>
        <p:nvSpPr>
          <p:cNvPr id="220" name="TextBox 219"/>
          <p:cNvSpPr txBox="1"/>
          <p:nvPr/>
        </p:nvSpPr>
        <p:spPr>
          <a:xfrm>
            <a:off x="6272784" y="4498848"/>
            <a:ext cx="96011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Cloud Run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7543800" y="4498848"/>
            <a:ext cx="1188720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22" name="Picture 221" descr="key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616952" y="4562856"/>
            <a:ext cx="201168" cy="201168"/>
          </a:xfrm>
          <a:prstGeom prst="rect">
            <a:avLst/>
          </a:prstGeom>
        </p:spPr>
      </p:pic>
      <p:sp>
        <p:nvSpPr>
          <p:cNvPr id="223" name="TextBox 222"/>
          <p:cNvSpPr txBox="1"/>
          <p:nvPr/>
        </p:nvSpPr>
        <p:spPr>
          <a:xfrm>
            <a:off x="7872983" y="4498848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No keys shipped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65760" y="11887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566928" y="135331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GOOGLE AI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66928" y="169164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3" name="Picture 122" descr="b-gemin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1792224"/>
            <a:ext cx="237744" cy="237744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50976" y="169164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Gemini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801368" y="169164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6" name="Picture 125" descr="b-g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1096" y="1792224"/>
            <a:ext cx="237744" cy="237744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2185416" y="169164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Vertex AI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218688" y="11887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3419856" y="135331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GOOGLE CLOUD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419856" y="169164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1" name="Picture 130" descr="b-g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9584" y="1792224"/>
            <a:ext cx="237744" cy="237744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3803904" y="169164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Cloud Run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654296" y="169164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4" name="Picture 133" descr="b-g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1792224"/>
            <a:ext cx="237744" cy="237744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5038344" y="169164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Cloud Build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419856" y="224028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7" name="Picture 136" descr="b-g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9584" y="2340864"/>
            <a:ext cx="237744" cy="237744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3803904" y="224028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Earth Engine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071616" y="11887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6272784" y="135331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GOOGLE MAPS PLATFORM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272784" y="169164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2" name="Picture 141" descr="b-map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1792224"/>
            <a:ext cx="237744" cy="237744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6656832" y="169164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Maps JS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507224" y="169164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5" name="Picture 144" descr="b-map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952" y="1792224"/>
            <a:ext cx="237744" cy="237744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7891272" y="169164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Places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272784" y="224028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8" name="Picture 147" descr="b-map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2340864"/>
            <a:ext cx="237744" cy="237744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6656832" y="224028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Map Tiles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507224" y="224028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1" name="Picture 150" descr="b-map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952" y="2340864"/>
            <a:ext cx="237744" cy="237744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7891272" y="224028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Air Quality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65760" y="3035808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566928" y="32004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WEB APP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66928" y="353872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6" name="Picture 155" descr="b-rea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" y="3639312"/>
            <a:ext cx="237744" cy="237744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950976" y="353872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React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801368" y="353872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9" name="Picture 158" descr="b-thre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1096" y="3639312"/>
            <a:ext cx="237744" cy="237744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2185416" y="353872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three.js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66928" y="408736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62" name="Picture 161" descr="b-v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" y="4187952"/>
            <a:ext cx="237744" cy="237744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950976" y="408736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Vite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218688" y="3035808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3419856" y="32004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SERVER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419856" y="353872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67" name="Picture 166" descr="b-pyth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9584" y="3639312"/>
            <a:ext cx="237744" cy="237744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3803904" y="353872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Python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654296" y="353872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0" name="Picture 169" descr="b-fastap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4024" y="3639312"/>
            <a:ext cx="237744" cy="237744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5038344" y="353872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FastAPI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419856" y="408736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3" name="Picture 172" descr="b-dock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29584" y="4187952"/>
            <a:ext cx="237744" cy="237744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3803904" y="408736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Docker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071616" y="3035808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6272784" y="32004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OPEN DATA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272784" y="353872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8" name="Picture 177" descr="b-osm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2512" y="3639312"/>
            <a:ext cx="237744" cy="237744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6656832" y="353872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OpenStreetMap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7507224" y="353872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1" name="Picture 180" descr="glob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6952" y="3639312"/>
            <a:ext cx="237744" cy="237744"/>
          </a:xfrm>
          <a:prstGeom prst="rect">
            <a:avLst/>
          </a:prstGeom>
        </p:spPr>
      </p:pic>
      <p:sp>
        <p:nvSpPr>
          <p:cNvPr id="182" name="TextBox 181"/>
          <p:cNvSpPr txBox="1"/>
          <p:nvPr/>
        </p:nvSpPr>
        <p:spPr>
          <a:xfrm>
            <a:off x="7891272" y="353872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Open-Meteo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6272784" y="408736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4" name="Picture 183" descr="peopl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2512" y="4187952"/>
            <a:ext cx="237744" cy="237744"/>
          </a:xfrm>
          <a:prstGeom prst="rect">
            <a:avLst/>
          </a:prstGeom>
        </p:spPr>
      </p:pic>
      <p:sp>
        <p:nvSpPr>
          <p:cNvPr id="185" name="TextBox 184"/>
          <p:cNvSpPr txBox="1"/>
          <p:nvPr/>
        </p:nvSpPr>
        <p:spPr>
          <a:xfrm>
            <a:off x="6656832" y="408736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WorldPop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7507224" y="408736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7" name="Picture 186" descr="leaf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16952" y="4187952"/>
            <a:ext cx="237744" cy="237744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7891272" y="408736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WorldCover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365760" y="1143000"/>
            <a:ext cx="2697480" cy="34015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566928" y="1298448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Build once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Prototype to city pilot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66928" y="1938528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2 developers × 3 months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148840" y="1938528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₹7–9 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66928" y="2368296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Urban-forestry and GIS advice, part-time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148840" y="236829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₹1 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66928" y="2798063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Design, testing, field visits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2798063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₹0.5–1 L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66928" y="3822191"/>
            <a:ext cx="2295144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694944" y="3822191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₹8.5–11 L</a:t>
            </a: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one time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218688" y="1143000"/>
            <a:ext cx="2697480" cy="34015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3419856" y="1298448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Run · pilot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One city, ~300 AI plans and ~100 new areas a month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419856" y="1938528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Run (free tier covers most of it)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001768" y="1938528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₹0–500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419856" y="2368296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Gemini, about ₹2 per AI plan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01768" y="236829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₹600–1,500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419856" y="2798063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Maps Platform, inside free monthly limits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01768" y="2798063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419856" y="3227831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Earth Engine, noncommercial civic use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01768" y="3227831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₹0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419856" y="3822191"/>
            <a:ext cx="2295144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3547872" y="3822191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₹0.6–2 K</a:t>
            </a: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per month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071616" y="1143000"/>
            <a:ext cx="2697480" cy="34015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6272784" y="1298448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Run · city scale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~5,000 AI plans and ~30,000 visits a month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72784" y="1938528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Run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854696" y="1938528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₹3–8 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72784" y="2368296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854696" y="236829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₹10–25 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272784" y="2798063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Maps Platform, past the free limits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854696" y="2798063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₹25–45 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272784" y="3227831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Earth Engine Basic plan ($500)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854696" y="3227831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₹48 K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272784" y="3822191"/>
            <a:ext cx="2295144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6400800" y="3822191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₹0.9–1.3 L</a:t>
            </a: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per month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65760" y="4626864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Estimates from Google's public price lists (Oct 2026) at ₹95 per US$. One AI plan measured at 8 Gemini calls, ~51,000 tokens in and ~2,200 out. Trees, roofs and shelters themselves are paid from each plan's own budget.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4b-studio-plan-satell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1143000"/>
            <a:ext cx="4114800" cy="2571750"/>
          </a:xfrm>
          <a:prstGeom prst="rect">
            <a:avLst/>
          </a:prstGeom>
        </p:spPr>
      </p:pic>
      <p:pic>
        <p:nvPicPr>
          <p:cNvPr id="137" name="Picture 136" descr="5a-revie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1143000"/>
            <a:ext cx="4114800" cy="2571750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365760" y="3824478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Gemini's plan on the 3D twin</a:t>
            </a:r>
          </a:p>
          <a:p>
            <a:pPr algn="l">
              <a:lnSpc>
                <a:spcPct val="108000"/>
              </a:lnSpc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466 trees and 69 cool roofs on Lajpat Nagar's real satellite ground, with live numbers on the right.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63440" y="3824478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Before and after</a:t>
            </a:r>
          </a:p>
          <a:p>
            <a:pPr algn="l">
              <a:lnSpc>
                <a:spcPct val="108000"/>
              </a:lnSpc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Measured heat today against the same place with the plan, and the temperature at each landmark.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and benchmarks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365760" y="118872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530352" y="135331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4 ms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30352" y="1920240"/>
            <a:ext cx="1298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to simulate a full plan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4,900 cells of 10 m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039112" y="118872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203704" y="135331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0.2 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203704" y="1920240"/>
            <a:ext cx="1298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to optimise a plan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₹20 lakh of trees and roofs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712464" y="118872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3877056" y="135331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~1 min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877056" y="1920240"/>
            <a:ext cx="1298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for Gemini to plan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3 plans tested, 8 calls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65760" y="288036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530352" y="30449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10–30 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30352" y="3611880"/>
            <a:ext cx="1298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to build a new area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from live satellite data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039112" y="288036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2203704" y="30449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158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203704" y="3611880"/>
            <a:ext cx="1298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automated tests pass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backend and web app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712464" y="288036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3877056" y="30449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877056" y="3611880"/>
            <a:ext cx="1298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invented numbers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in Gemini's answer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486400" y="117043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GEMINI'S THREE OPTIONS · ₹20 LAKH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577840" y="14630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Option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263640" y="146304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Trees · roofs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178040" y="14630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Market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863840" y="146304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Under cool roofs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486400" y="1847088"/>
            <a:ext cx="3291840" cy="457200"/>
          </a:xfrm>
          <a:prstGeom prst="roundRect">
            <a:avLst>
              <a:gd name="adj" fmla="val 15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5577840" y="184708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S1 ★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263640" y="1847088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466 · 69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178040" y="184708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41.9°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863840" y="1847088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497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486400" y="2377440"/>
            <a:ext cx="3291840" cy="457200"/>
          </a:xfrm>
          <a:prstGeom prst="roundRect">
            <a:avLst>
              <a:gd name="adj" fmla="val 15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5577840" y="23774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S2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263640" y="237744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533 · 46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178040" y="23774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41.9°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863840" y="237744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368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486400" y="2907792"/>
            <a:ext cx="3291840" cy="457200"/>
          </a:xfrm>
          <a:prstGeom prst="roundRect">
            <a:avLst>
              <a:gd name="adj" fmla="val 15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5577840" y="2907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S3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263640" y="2907792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600 · 30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178040" y="2907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41.8°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863840" y="2907792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not checked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486400" y="3511296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★ Gemini's pick: the brief asked to protect elderly residents in dense homes, and it puts the most people under cool roofs. Market today: 42.7°.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65760" y="1188720"/>
            <a:ext cx="4133087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566928" y="14264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4" name="Picture 153" descr="c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1527048"/>
            <a:ext cx="256032" cy="256032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1188720" y="1335024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Pilot with a Delhi ward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Plan, plant and measure one neighbourhood with a residents' association and the municipality.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645152" y="1188720"/>
            <a:ext cx="4133087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4846320" y="14264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8" name="Picture 157" descr="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1527048"/>
            <a:ext cx="256032" cy="256032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5468112" y="1335024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Calibrate for Indian cities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Street sensors and afternoon thermal imagery to narrow today's cooling range.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65760" y="2395728"/>
            <a:ext cx="4133087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566928" y="2633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2" name="Picture 161" descr="lea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2734056"/>
            <a:ext cx="256032" cy="256032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1188720" y="2542032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Seasonal shade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Model leafless months for deciduous trees, using Indian growth data by species.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645152" y="2395728"/>
            <a:ext cx="4133087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4846320" y="2633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6" name="Picture 165" descr="spro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6904" y="2734056"/>
            <a:ext cx="256032" cy="256032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5468112" y="2542032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Track what gets planted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Record what is installed and its survival, then compare predicted and measured heat each summer.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65760" y="3602736"/>
            <a:ext cx="4133087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566928" y="3840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0" name="Picture 169" descr="glob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" y="3941064"/>
            <a:ext cx="256032" cy="256032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1188720" y="374904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More cities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Ready wherever Open Buildings has data: South and Southeast Asia, Africa and Latin America.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645152" y="3602736"/>
            <a:ext cx="4133087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4846320" y="3840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4" name="Picture 173" descr="pho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6904" y="3941064"/>
            <a:ext cx="256032" cy="256032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5468112" y="374904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Mobile and local languages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 mobile app for field teams, with Hindi and regional languages.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Links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47" name="Text 1147"/>
          <p:cNvSpPr txBox="1"/>
          <p:nvPr/>
        </p:nvSpPr>
        <p:spPr>
          <a:xfrm>
            <a:off x="365760" y="1280160"/>
            <a:ext cx="8412480" cy="777240"/>
          </a:xfrm>
          <a:prstGeom prst="roundRect">
            <a:avLst>
              <a:gd name="adj" fmla="val 7000"/>
            </a:avLst>
          </a:prstGeom>
          <a:solidFill>
            <a:srgbClr val="F1F3F4"/>
          </a:solidFill>
          <a:ln>
            <a:noFill/>
          </a:ln>
        </p:spPr>
        <p:txBody>
          <a:bodyPr wrap="square" lIns="146304" tIns="146304" rIns="146304" bIns="146304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GitHub Public Repository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5"/>
              </a:rPr>
              <a:t>github.com/lohiyakeshav/LeafIt</a:t>
            </a:r>
          </a:p>
        </p:txBody>
      </p:sp>
      <p:sp>
        <p:nvSpPr>
          <p:cNvPr id="1148" name="Text 1148"/>
          <p:cNvSpPr txBox="1"/>
          <p:nvPr/>
        </p:nvSpPr>
        <p:spPr>
          <a:xfrm>
            <a:off x="365760" y="2194560"/>
            <a:ext cx="8412480" cy="777240"/>
          </a:xfrm>
          <a:prstGeom prst="roundRect">
            <a:avLst>
              <a:gd name="adj" fmla="val 7000"/>
            </a:avLst>
          </a:prstGeom>
          <a:solidFill>
            <a:srgbClr val="F1F3F4"/>
          </a:solidFill>
          <a:ln>
            <a:noFill/>
          </a:ln>
        </p:spPr>
        <p:txBody>
          <a:bodyPr wrap="square" lIns="146304" tIns="146304" rIns="146304" bIns="146304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Demo Video Link (3 Minutes)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7"/>
              </a:rPr>
              <a:t>drive.google.com/file/d/1mLXgTHEWch1o-BW0rdctq1ABphMi_sK8</a:t>
            </a:r>
          </a:p>
        </p:txBody>
      </p:sp>
      <p:sp>
        <p:nvSpPr>
          <p:cNvPr id="1149" name="Text 1149"/>
          <p:cNvSpPr txBox="1"/>
          <p:nvPr/>
        </p:nvSpPr>
        <p:spPr>
          <a:xfrm>
            <a:off x="365760" y="3108960"/>
            <a:ext cx="8412480" cy="777240"/>
          </a:xfrm>
          <a:prstGeom prst="roundRect">
            <a:avLst>
              <a:gd name="adj" fmla="val 7000"/>
            </a:avLst>
          </a:prstGeom>
          <a:solidFill>
            <a:srgbClr val="F1F3F4"/>
          </a:solidFill>
          <a:ln>
            <a:noFill/>
          </a:ln>
        </p:spPr>
        <p:txBody>
          <a:bodyPr wrap="square" lIns="146304" tIns="146304" rIns="146304" bIns="146304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Final Product Link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6"/>
              </a:rPr>
              <a:t>leafit.cloud.run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