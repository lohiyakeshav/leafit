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1" r:id="rId21"/>
  </p:sldIdLst>
  <p:sldSz cy="5143500" cx="9144000"/>
  <p:notesSz cx="6858000" cy="9144000"/>
  <p:embeddedFontLst>
    <p:embeddedFont>
      <p:font typeface="Google Sans Flex Medium"/>
      <p:regular r:id="rId22"/>
      <p:bold r:id="rId23"/>
    </p:embeddedFont>
    <p:embeddedFont>
      <p:font typeface="Google Sans Flex"/>
      <p:regular r:id="rId24"/>
      <p:bold r:id="rId25"/>
    </p:embeddedFont>
    <p:embeddedFont>
      <p:font typeface="Google Sans Flex SemiBold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font" Target="fonts/GoogleSansFlexMedium-regular.fntdata"/><Relationship Id="rId23" Type="http://schemas.openxmlformats.org/officeDocument/2006/relationships/font" Target="fonts/GoogleSansFlexMedium-bold.fntdata"/><Relationship Id="rId24" Type="http://schemas.openxmlformats.org/officeDocument/2006/relationships/font" Target="fonts/GoogleSansFlex-regular.fntdata"/><Relationship Id="rId25" Type="http://schemas.openxmlformats.org/officeDocument/2006/relationships/font" Target="fonts/GoogleSansFlex-bold.fntdata"/><Relationship Id="rId26" Type="http://schemas.openxmlformats.org/officeDocument/2006/relationships/font" Target="fonts/GoogleSansFlexSemiBold-regular.fntdata"/><Relationship Id="rId27" Type="http://schemas.openxmlformats.org/officeDocument/2006/relationships/font" Target="fonts/GoogleSansFlexSemiBold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b085bff3c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b085bff3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b085bff3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b085bff3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b085bff3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b085bff3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b085bff3c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b085bff3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fb085bff3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fb085bff3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b085bff3c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b085bff3c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b085bff3c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fb085bff3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b085bff3c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fb085bff3c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b085bff3c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b085bff3c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b085bff3c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b085bff3c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fb085bff3c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fb085bff3c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fb085bff3c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fb085bff3c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b085bff3c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fb085bff3c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leafit_studio_plan.jpg"/><Relationship Id="rId5" Type="http://schemas.openxmlformats.org/officeDocument/2006/relationships/image" Target="../media/image1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6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9" Type="http://schemas.openxmlformats.org/officeDocument/2006/relationships/image" Target="../media/image21.png"/><Relationship Id="rId10" Type="http://schemas.openxmlformats.org/officeDocument/2006/relationships/image" Target="../media/image7.png"/><Relationship Id="rId11" Type="http://schemas.openxmlformats.org/officeDocument/2006/relationships/image" Target="../media/image22.png"/><Relationship Id="rId12" Type="http://schemas.openxmlformats.org/officeDocument/2006/relationships/image" Target="../media/image6.png"/><Relationship Id="rId13" Type="http://schemas.openxmlformats.org/officeDocument/2006/relationships/image" Target="../media/image13.png"/><Relationship Id="rId14" Type="http://schemas.openxmlformats.org/officeDocument/2006/relationships/image" Target="../media/image15.png"/><Relationship Id="rId15" Type="http://schemas.openxmlformats.org/officeDocument/2006/relationships/image" Target="../media/image2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leafit_home.jpg"/><Relationship Id="rId6" Type="http://schemas.openxmlformats.org/officeDocument/2006/relationships/image" Target="../media/leafit_explore.jpg"/><Relationship Id="rId7" Type="http://schemas.openxmlformats.org/officeDocument/2006/relationships/image" Target="../media/leafit_ai_result.jpg"/><Relationship Id="rId8" Type="http://schemas.openxmlformats.org/officeDocument/2006/relationships/image" Target="../media/leafit_review.jpg"/><Relationship Id="rId9" Type="http://schemas.openxmlformats.org/officeDocument/2006/relationships/image" Target="../media/image24.png"/><Relationship Id="rId10" Type="http://schemas.openxmlformats.org/officeDocument/2006/relationships/image" Target="../media/image25.png"/><Relationship Id="rId11" Type="http://schemas.openxmlformats.org/officeDocument/2006/relationships/image" Target="../media/image26.png"/><Relationship Id="rId12" Type="http://schemas.openxmlformats.org/officeDocument/2006/relationships/image" Target="../media/image2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4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8" Type="http://schemas.openxmlformats.org/officeDocument/2006/relationships/image" Target="../media/image30.png"/><Relationship Id="rId9" Type="http://schemas.openxmlformats.org/officeDocument/2006/relationships/image" Target="../media/image20.png"/><Relationship Id="rId10" Type="http://schemas.openxmlformats.org/officeDocument/2006/relationships/image" Target="../media/image31.png"/><Relationship Id="rId11" Type="http://schemas.openxmlformats.org/officeDocument/2006/relationships/image" Target="../media/image32.png"/><Relationship Id="rId12" Type="http://schemas.openxmlformats.org/officeDocument/2006/relationships/image" Target="../media/image33.png"/><Relationship Id="rId13" Type="http://schemas.openxmlformats.org/officeDocument/2006/relationships/image" Target="../media/image3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33.png"/><Relationship Id="rId6" Type="http://schemas.openxmlformats.org/officeDocument/2006/relationships/image" Target="../media/image29.png"/><Relationship Id="rId7" Type="http://schemas.openxmlformats.org/officeDocument/2006/relationships/image" Target="../media/image32.png"/><Relationship Id="rId8" Type="http://schemas.openxmlformats.org/officeDocument/2006/relationships/image" Target="../media/image35.png"/><Relationship Id="rId9" Type="http://schemas.openxmlformats.org/officeDocument/2006/relationships/image" Target="../media/image36.png"/><Relationship Id="rId10" Type="http://schemas.openxmlformats.org/officeDocument/2006/relationships/image" Target="../media/image37.png"/><Relationship Id="rId11" Type="http://schemas.openxmlformats.org/officeDocument/2006/relationships/image" Target="../media/image38.png"/><Relationship Id="rId12" Type="http://schemas.openxmlformats.org/officeDocument/2006/relationships/image" Target="../media/image39.png"/><Relationship Id="rId13" Type="http://schemas.openxmlformats.org/officeDocument/2006/relationships/image" Target="../media/image40.png"/><Relationship Id="rId14" Type="http://schemas.openxmlformats.org/officeDocument/2006/relationships/image" Target="../media/image34.png"/><Relationship Id="rId15" Type="http://schemas.openxmlformats.org/officeDocument/2006/relationships/image" Target="../media/image41.png"/><Relationship Id="rId16" Type="http://schemas.openxmlformats.org/officeDocument/2006/relationships/image" Target="../media/image14.png"/><Relationship Id="rId17" Type="http://schemas.openxmlformats.org/officeDocument/2006/relationships/image" Target="../media/image4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leafit_studio_plan.jpg"/><Relationship Id="rId6" Type="http://schemas.openxmlformats.org/officeDocument/2006/relationships/image" Target="../media/leafit_ai_result.jpg"/><Relationship Id="rId7" Type="http://schemas.openxmlformats.org/officeDocument/2006/relationships/image" Target="../media/image43.png"/><Relationship Id="rId8" Type="http://schemas.openxmlformats.org/officeDocument/2006/relationships/image" Target="../media/image4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45.png"/><Relationship Id="rId6" Type="http://schemas.openxmlformats.org/officeDocument/2006/relationships/image" Target="../media/image46.png"/><Relationship Id="rId7" Type="http://schemas.openxmlformats.org/officeDocument/2006/relationships/image" Target="../media/image42.png"/><Relationship Id="rId8" Type="http://schemas.openxmlformats.org/officeDocument/2006/relationships/image" Target="../media/image47.png"/><Relationship Id="rId9" Type="http://schemas.openxmlformats.org/officeDocument/2006/relationships/image" Target="../media/image41.png"/><Relationship Id="rId10" Type="http://schemas.openxmlformats.org/officeDocument/2006/relationships/image" Target="../media/image4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hyperlink" Target="https://github.com/lohiyakeshav/LeafIt" TargetMode="External"/><Relationship Id="rId6" Type="http://schemas.openxmlformats.org/officeDocument/2006/relationships/hyperlink" Target="https://leafit.cloud.run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46600" y="2902694"/>
            <a:ext cx="8760000" cy="24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Team Details</a:t>
            </a:r>
            <a:endParaRPr sz="21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Team name: Friendly Neighbourhood Devs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Team leader name: Keshav Lohiya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Google Sans Flex"/>
              <a:buAutoNum type="alphaLcPeriod"/>
            </a:pPr>
            <a:r>
              <a:rPr lang="en-GB" sz="1800">
                <a:latin typeface="Google Sans Flex"/>
                <a:ea typeface="Google Sans Flex"/>
                <a:cs typeface="Google Sans Flex"/>
                <a:sym typeface="Google Sans Flex"/>
              </a:rPr>
              <a:t>Problem Statement: Sustainability &amp; Social Impact</a:t>
            </a:r>
            <a:endParaRPr sz="1800">
              <a:latin typeface="Google Sans Flex"/>
              <a:ea typeface="Google Sans Flex"/>
              <a:cs typeface="Google Sans Flex"/>
              <a:sym typeface="Google Sans Flex"/>
            </a:endParaRPr>
          </a:p>
          <a:p>
            <a:pPr marL="914400" indent="0"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110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Build an AI-powered solution that addresses a meaningful environmental or societal challenge. Solutions may focus on improving resource efficiency, increasing accessibility, strengthening resilience, supporting communities, or enabling more informed and sustainable decision-making.</a:t>
            </a: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55" name="Google Shape;55;p13" title="Frame 14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3"/>
            <a:ext cx="9144000" cy="2715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title="Frame 144.png"/>
          <p:cNvPicPr preferRelativeResize="0"/>
          <p:nvPr/>
        </p:nvPicPr>
        <p:blipFill rotWithShape="1">
          <a:blip r:embed="rId4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Group 42731997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Brief about the idea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365760" y="1115568"/>
            <a:ext cx="4160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5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LeafIt turns a hot city block into a costed, people-first cooling plan, built on real satellite data and planned with Gemini.</a:t>
            </a:r>
          </a:p>
        </p:txBody>
      </p:sp>
      <p:sp>
        <p:nvSpPr>
          <p:cNvPr id="73" name="Oval 72"/>
          <p:cNvSpPr/>
          <p:nvPr/>
        </p:nvSpPr>
        <p:spPr>
          <a:xfrm>
            <a:off x="365760" y="2057400"/>
            <a:ext cx="384048" cy="384048"/>
          </a:xfrm>
          <a:prstGeom prst="ellipse">
            <a:avLst/>
          </a:prstGeom>
          <a:solidFill>
            <a:srgbClr val="E6F4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74" name="Picture 73" descr="ma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250" y="2141890"/>
            <a:ext cx="215066" cy="215066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868680" y="2039112"/>
            <a:ext cx="3611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See the real place</a:t>
            </a:r>
          </a:p>
          <a:p>
            <a:pPr algn="l">
              <a:lnSpc>
                <a:spcPct val="108000"/>
              </a:lnSpc>
              <a:spcBef>
                <a:spcPts val="200"/>
              </a:spcBef>
            </a:pPr>
            <a:r>
              <a:rPr sz="95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Mark any neighbourhood on Google's satellite map; LeafIt builds a 3D twin with its measured heat, trees, buildings and residents.</a:t>
            </a:r>
          </a:p>
        </p:txBody>
      </p:sp>
      <p:sp>
        <p:nvSpPr>
          <p:cNvPr id="76" name="Oval 75"/>
          <p:cNvSpPr/>
          <p:nvPr/>
        </p:nvSpPr>
        <p:spPr>
          <a:xfrm>
            <a:off x="365760" y="2807208"/>
            <a:ext cx="384048" cy="384048"/>
          </a:xfrm>
          <a:prstGeom prst="ellipse">
            <a:avLst/>
          </a:prstGeom>
          <a:solidFill>
            <a:srgbClr val="E6F4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77" name="Picture 76" descr="ai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0250" y="2891698"/>
            <a:ext cx="215066" cy="215066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868680" y="2788920"/>
            <a:ext cx="3611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Plan in plain words</a:t>
            </a:r>
          </a:p>
          <a:p>
            <a:pPr algn="l">
              <a:lnSpc>
                <a:spcPct val="108000"/>
              </a:lnSpc>
              <a:spcBef>
                <a:spcPts val="200"/>
              </a:spcBef>
            </a:pPr>
            <a:r>
              <a:rPr sz="95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Place trees, cool roofs and shaded bus stops yourself, or give Gemini a brief and a budget and let it test the options.</a:t>
            </a:r>
          </a:p>
        </p:txBody>
      </p:sp>
      <p:sp>
        <p:nvSpPr>
          <p:cNvPr id="79" name="Oval 78"/>
          <p:cNvSpPr/>
          <p:nvPr/>
        </p:nvSpPr>
        <p:spPr>
          <a:xfrm>
            <a:off x="365760" y="3557015"/>
            <a:ext cx="384048" cy="384048"/>
          </a:xfrm>
          <a:prstGeom prst="ellipse">
            <a:avLst/>
          </a:prstGeom>
          <a:solidFill>
            <a:srgbClr val="E6F4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80" name="Picture 79" descr="ac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0250" y="3641506"/>
            <a:ext cx="215066" cy="215066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868680" y="3538727"/>
            <a:ext cx="36118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Act on it</a:t>
            </a:r>
          </a:p>
          <a:p>
            <a:pPr algn="l">
              <a:lnSpc>
                <a:spcPct val="108000"/>
              </a:lnSpc>
              <a:spcBef>
                <a:spcPts val="200"/>
              </a:spcBef>
            </a:pPr>
            <a:r>
              <a:rPr sz="95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Before-and-after heat for each place, a bill of materials, a funding proposal and nearby vendors to quote.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65760" y="4370832"/>
            <a:ext cx="4160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For </a:t>
            </a:r>
            <a:r>
              <a:rPr sz="95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residents' associations, ward officers, NGOs and CSR teams</a:t>
            </a:r>
            <a:r>
              <a:rPr sz="95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 who fund cooling but can't test a plan before paying for it.</a:t>
            </a:r>
          </a:p>
        </p:txBody>
      </p:sp>
      <p:pic>
        <p:nvPicPr>
          <p:cNvPr id="83" name="Picture 82" descr="4a-studio-plan-abou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54880" y="1143000"/>
            <a:ext cx="4023360" cy="2514600"/>
          </a:xfrm>
          <a:prstGeom prst="rect">
            <a:avLst/>
          </a:prstGeom>
        </p:spPr>
      </p:pic>
      <p:sp>
        <p:nvSpPr>
          <p:cNvPr id="84" name="TextBox 83"/>
          <p:cNvSpPr txBox="1"/>
          <p:nvPr/>
        </p:nvSpPr>
        <p:spPr>
          <a:xfrm>
            <a:off x="4754880" y="3767328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Lajpat Nagar Central Market, New Delhi · </a:t>
            </a:r>
            <a:r>
              <a:rPr sz="90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Gemini's ₹20 lakh plan: 466 trees and 69 cool roofs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6"/>
          <p:cNvSpPr txBox="1"/>
          <p:nvPr/>
        </p:nvSpPr>
        <p:spPr>
          <a:xfrm>
            <a:off x="265350" y="663825"/>
            <a:ext cx="8943000" cy="13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Opportunities</a:t>
            </a:r>
            <a:br>
              <a:rPr lang="en-GB" sz="1600"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</a:br>
            <a:endParaRPr sz="1600">
              <a:latin typeface="Google Sans Flex SemiBold"/>
              <a:ea typeface="Google Sans Flex SemiBold"/>
              <a:cs typeface="Google Sans Flex SemiBold"/>
              <a:sym typeface="Google Sans Flex SemiBold"/>
            </a:endParaRPr>
          </a:p>
        </p:txBody>
      </p:sp>
      <p:sp>
        <p:nvSpPr>
          <p:cNvPr id="80" name="Rounded Rectangle 79"/>
          <p:cNvSpPr/>
          <p:nvPr/>
        </p:nvSpPr>
        <p:spPr>
          <a:xfrm>
            <a:off x="365760" y="1188720"/>
            <a:ext cx="2697480" cy="361188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1" name="Oval 80"/>
          <p:cNvSpPr/>
          <p:nvPr/>
        </p:nvSpPr>
        <p:spPr>
          <a:xfrm>
            <a:off x="594360" y="1389888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82" name="Picture 81" descr="targ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1490472"/>
            <a:ext cx="256032" cy="256032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594360" y="201168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How it is different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94360" y="2423160"/>
            <a:ext cx="224028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Heat maps show where a city is hot. LeafIt shows what to do about it: which mix of trees, cool roofs and shelters, where, for whom and at what cost.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594360" y="3950208"/>
            <a:ext cx="2240280" cy="62179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731520" y="3950208"/>
            <a:ext cx="201168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>
                <a:solidFill>
                  <a:srgbClr val="188038"/>
                </a:solidFill>
                <a:latin typeface="Google Sans Flex Medium"/>
                <a:ea typeface="Google Sans Flex Medium"/>
                <a:cs typeface="Google Sans Flex Medium"/>
              </a:rPr>
              <a:t>Starts from the shade already there, so trees are not wasted.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3218688" y="1188720"/>
            <a:ext cx="2697480" cy="361188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8" name="Oval 87"/>
          <p:cNvSpPr/>
          <p:nvPr/>
        </p:nvSpPr>
        <p:spPr>
          <a:xfrm>
            <a:off x="3447288" y="1389888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89" name="Picture 88" descr="za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47872" y="1490472"/>
            <a:ext cx="256032" cy="256032"/>
          </a:xfrm>
          <a:prstGeom prst="rect">
            <a:avLst/>
          </a:prstGeom>
        </p:spPr>
      </p:pic>
      <p:sp>
        <p:nvSpPr>
          <p:cNvPr id="90" name="TextBox 89"/>
          <p:cNvSpPr txBox="1"/>
          <p:nvPr/>
        </p:nvSpPr>
        <p:spPr>
          <a:xfrm>
            <a:off x="3447288" y="201168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How it solves the problem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447288" y="2423160"/>
            <a:ext cx="224028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From one sentence and a budget to a tested, costed plan in about a minute, then on to a funding proposal and vendor quotes.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3447288" y="3950208"/>
            <a:ext cx="2240280" cy="62179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3" name="TextBox 92"/>
          <p:cNvSpPr txBox="1"/>
          <p:nvPr/>
        </p:nvSpPr>
        <p:spPr>
          <a:xfrm>
            <a:off x="3584448" y="3950208"/>
            <a:ext cx="201168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>
                <a:solidFill>
                  <a:srgbClr val="188038"/>
                </a:solidFill>
                <a:latin typeface="Google Sans Flex Medium"/>
                <a:ea typeface="Google Sans Flex Medium"/>
                <a:cs typeface="Google Sans Flex Medium"/>
              </a:rPr>
              <a:t>Guesswork becomes a plan you can defend.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6071616" y="1188720"/>
            <a:ext cx="2697480" cy="361188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5" name="Oval 94"/>
          <p:cNvSpPr/>
          <p:nvPr/>
        </p:nvSpPr>
        <p:spPr>
          <a:xfrm>
            <a:off x="6300216" y="1389888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96" name="Picture 95" descr="che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0" y="1490472"/>
            <a:ext cx="256032" cy="256032"/>
          </a:xfrm>
          <a:prstGeom prst="rect">
            <a:avLst/>
          </a:prstGeom>
        </p:spPr>
      </p:pic>
      <p:sp>
        <p:nvSpPr>
          <p:cNvPr id="97" name="TextBox 96"/>
          <p:cNvSpPr txBox="1"/>
          <p:nvPr/>
        </p:nvSpPr>
        <p:spPr>
          <a:xfrm>
            <a:off x="6300216" y="201168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What makes it unique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300216" y="2423160"/>
            <a:ext cx="224028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Honest numbers. Every coefficient is cited, cooling is shown as a low-to-high range, and every figure Gemini writes is checked against the simulator.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6300216" y="3950208"/>
            <a:ext cx="2240280" cy="62179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0" name="TextBox 99"/>
          <p:cNvSpPr txBox="1"/>
          <p:nvPr/>
        </p:nvSpPr>
        <p:spPr>
          <a:xfrm>
            <a:off x="6437376" y="3950208"/>
            <a:ext cx="2011680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>
                <a:solidFill>
                  <a:srgbClr val="188038"/>
                </a:solidFill>
                <a:latin typeface="Google Sans Flex Medium"/>
                <a:ea typeface="Google Sans Flex Medium"/>
                <a:cs typeface="Google Sans Flex Medium"/>
              </a:rPr>
              <a:t>Gemini decides; the code calculates.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7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List of features offered by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88" name="Rounded Rectangle 87"/>
          <p:cNvSpPr/>
          <p:nvPr/>
        </p:nvSpPr>
        <p:spPr>
          <a:xfrm>
            <a:off x="365760" y="1188720"/>
            <a:ext cx="2697480" cy="169164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89" name="Oval 88"/>
          <p:cNvSpPr/>
          <p:nvPr/>
        </p:nvSpPr>
        <p:spPr>
          <a:xfrm>
            <a:off x="594360" y="1408176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90" name="Picture 89" descr="lay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1508760"/>
            <a:ext cx="256032" cy="256032"/>
          </a:xfrm>
          <a:prstGeom prst="rect">
            <a:avLst/>
          </a:prstGeom>
        </p:spPr>
      </p:pic>
      <p:sp>
        <p:nvSpPr>
          <p:cNvPr id="91" name="TextBox 90"/>
          <p:cNvSpPr txBox="1"/>
          <p:nvPr/>
        </p:nvSpPr>
        <p:spPr>
          <a:xfrm>
            <a:off x="594360" y="1975104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3D twin from real data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94360" y="228600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Satellite heat, existing trees, buildings, residents and roads, on 10-metre cells.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3218688" y="1188720"/>
            <a:ext cx="2697480" cy="169164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4" name="Oval 93"/>
          <p:cNvSpPr/>
          <p:nvPr/>
        </p:nvSpPr>
        <p:spPr>
          <a:xfrm>
            <a:off x="3447288" y="1408176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95" name="Picture 94" descr="tre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47872" y="1508760"/>
            <a:ext cx="256032" cy="256032"/>
          </a:xfrm>
          <a:prstGeom prst="rect">
            <a:avLst/>
          </a:prstGeom>
        </p:spPr>
      </p:pic>
      <p:sp>
        <p:nvSpPr>
          <p:cNvPr id="96" name="TextBox 95"/>
          <p:cNvSpPr txBox="1"/>
          <p:nvPr/>
        </p:nvSpPr>
        <p:spPr>
          <a:xfrm>
            <a:off x="3447288" y="1975104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Design studio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447288" y="228600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Place trees, cool roofs and bus shelters; the numbers update instantly.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6071616" y="1188720"/>
            <a:ext cx="2697480" cy="169164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99" name="Oval 98"/>
          <p:cNvSpPr/>
          <p:nvPr/>
        </p:nvSpPr>
        <p:spPr>
          <a:xfrm>
            <a:off x="6300216" y="1408176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00" name="Picture 99" descr="ai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0" y="1508760"/>
            <a:ext cx="256032" cy="256032"/>
          </a:xfrm>
          <a:prstGeom prst="rect">
            <a:avLst/>
          </a:prstGeom>
        </p:spPr>
      </p:pic>
      <p:sp>
        <p:nvSpPr>
          <p:cNvPr id="101" name="TextBox 100"/>
          <p:cNvSpPr txBox="1"/>
          <p:nvPr/>
        </p:nvSpPr>
        <p:spPr>
          <a:xfrm>
            <a:off x="6300216" y="1975104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Gemini planner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300216" y="2286000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Tests several plans, checks its own work and explains each zone.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365760" y="3035808"/>
            <a:ext cx="2697480" cy="169164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4" name="Oval 103"/>
          <p:cNvSpPr/>
          <p:nvPr/>
        </p:nvSpPr>
        <p:spPr>
          <a:xfrm>
            <a:off x="594360" y="3255264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05" name="Picture 104" descr="peopl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4944" y="3355848"/>
            <a:ext cx="256032" cy="256032"/>
          </a:xfrm>
          <a:prstGeom prst="rect">
            <a:avLst/>
          </a:prstGeom>
        </p:spPr>
      </p:pic>
      <p:sp>
        <p:nvSpPr>
          <p:cNvPr id="106" name="TextBox 105"/>
          <p:cNvSpPr txBox="1"/>
          <p:nvPr/>
        </p:nvSpPr>
        <p:spPr>
          <a:xfrm>
            <a:off x="594360" y="3822192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People first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94360" y="4133088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Cooling where young children and older residents live, not just the average.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3218688" y="3035808"/>
            <a:ext cx="2697480" cy="169164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09" name="Oval 108"/>
          <p:cNvSpPr/>
          <p:nvPr/>
        </p:nvSpPr>
        <p:spPr>
          <a:xfrm>
            <a:off x="3447288" y="3255264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10" name="Picture 109" descr="hea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47872" y="3355848"/>
            <a:ext cx="256032" cy="256032"/>
          </a:xfrm>
          <a:prstGeom prst="rect">
            <a:avLst/>
          </a:prstGeom>
        </p:spPr>
      </p:pic>
      <p:sp>
        <p:nvSpPr>
          <p:cNvPr id="111" name="TextBox 110"/>
          <p:cNvSpPr txBox="1"/>
          <p:nvPr/>
        </p:nvSpPr>
        <p:spPr>
          <a:xfrm>
            <a:off x="3447288" y="3822192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Before and after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447288" y="4133088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Measured heat today against the plan, place by place, in degrees.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6071616" y="3035808"/>
            <a:ext cx="2697480" cy="169164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14" name="Oval 113"/>
          <p:cNvSpPr/>
          <p:nvPr/>
        </p:nvSpPr>
        <p:spPr>
          <a:xfrm>
            <a:off x="6300216" y="3255264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15" name="Picture 114" descr="stor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00800" y="3355848"/>
            <a:ext cx="256032" cy="256032"/>
          </a:xfrm>
          <a:prstGeom prst="rect">
            <a:avLst/>
          </a:prstGeom>
        </p:spPr>
      </p:pic>
      <p:sp>
        <p:nvSpPr>
          <p:cNvPr id="116" name="TextBox 115"/>
          <p:cNvSpPr txBox="1"/>
          <p:nvPr/>
        </p:nvSpPr>
        <p:spPr>
          <a:xfrm>
            <a:off x="6300216" y="3822192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0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Fund and build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300216" y="4133088"/>
            <a:ext cx="2286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Bill of materials, funding proposal and real local vendors with a ready quote.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8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Process flow diagram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96" name="TextBox 95"/>
          <p:cNvSpPr txBox="1"/>
          <p:nvPr/>
        </p:nvSpPr>
        <p:spPr>
          <a:xfrm>
            <a:off x="365760" y="1078992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50">
                <a:solidFill>
                  <a:srgbClr val="188038"/>
                </a:solidFill>
                <a:latin typeface="Google Sans Flex SemiBold"/>
                <a:ea typeface="Google Sans Flex SemiBold"/>
                <a:cs typeface="Google Sans Flex SemiBold"/>
              </a:rPr>
              <a:t>USER JOURNEY</a:t>
            </a:r>
          </a:p>
        </p:txBody>
      </p:sp>
      <p:sp>
        <p:nvSpPr>
          <p:cNvPr id="97" name="Rounded Rectangle 96"/>
          <p:cNvSpPr/>
          <p:nvPr/>
        </p:nvSpPr>
        <p:spPr>
          <a:xfrm>
            <a:off x="365760" y="1325880"/>
            <a:ext cx="1243584" cy="96012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98" name="Picture 97" descr="sear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" y="1444752"/>
            <a:ext cx="256032" cy="256032"/>
          </a:xfrm>
          <a:prstGeom prst="rect">
            <a:avLst/>
          </a:prstGeom>
        </p:spPr>
      </p:pic>
      <p:sp>
        <p:nvSpPr>
          <p:cNvPr id="99" name="TextBox 98"/>
          <p:cNvSpPr txBox="1"/>
          <p:nvPr/>
        </p:nvSpPr>
        <p:spPr>
          <a:xfrm>
            <a:off x="493776" y="1737360"/>
            <a:ext cx="10607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1 · Find</a:t>
            </a:r>
          </a:p>
          <a:p>
            <a:pPr algn="l">
              <a:lnSpc>
                <a:spcPct val="108000"/>
              </a:lnSpc>
            </a:pPr>
            <a:r>
              <a:rPr sz="90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Search a place</a:t>
            </a:r>
          </a:p>
        </p:txBody>
      </p:sp>
      <p:cxnSp>
        <p:nvCxnSpPr>
          <p:cNvPr id="100" name="Connector 99"/>
          <p:cNvCxnSpPr/>
          <p:nvPr/>
        </p:nvCxnSpPr>
        <p:spPr>
          <a:xfrm>
            <a:off x="1636776" y="1805940"/>
            <a:ext cx="135331" cy="0"/>
          </a:xfrm>
          <a:prstGeom prst="line">
            <a:avLst/>
          </a:prstGeom>
          <a:ln w="15875">
            <a:solidFill>
              <a:srgbClr val="5F6368"/>
            </a:solidFill>
            <a:tailEnd type="triangle" w="med" h="med"/>
          </a:ln>
        </p:spPr>
      </p:cxnSp>
      <p:sp>
        <p:nvSpPr>
          <p:cNvPr id="101" name="Rounded Rectangle 100"/>
          <p:cNvSpPr/>
          <p:nvPr/>
        </p:nvSpPr>
        <p:spPr>
          <a:xfrm>
            <a:off x="1799539" y="1325880"/>
            <a:ext cx="1243584" cy="96012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02" name="Picture 101" descr="mar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27555" y="1444752"/>
            <a:ext cx="256032" cy="256032"/>
          </a:xfrm>
          <a:prstGeom prst="rect">
            <a:avLst/>
          </a:prstGeom>
        </p:spPr>
      </p:pic>
      <p:sp>
        <p:nvSpPr>
          <p:cNvPr id="103" name="TextBox 102"/>
          <p:cNvSpPr txBox="1"/>
          <p:nvPr/>
        </p:nvSpPr>
        <p:spPr>
          <a:xfrm>
            <a:off x="1927555" y="1737360"/>
            <a:ext cx="10607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2 · Mark</a:t>
            </a:r>
          </a:p>
          <a:p>
            <a:pPr algn="l">
              <a:lnSpc>
                <a:spcPct val="108000"/>
              </a:lnSpc>
            </a:pPr>
            <a:r>
              <a:rPr sz="90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Drag a box</a:t>
            </a:r>
          </a:p>
        </p:txBody>
      </p:sp>
      <p:cxnSp>
        <p:nvCxnSpPr>
          <p:cNvPr id="104" name="Connector 103"/>
          <p:cNvCxnSpPr/>
          <p:nvPr/>
        </p:nvCxnSpPr>
        <p:spPr>
          <a:xfrm>
            <a:off x="3070555" y="1805940"/>
            <a:ext cx="135331" cy="0"/>
          </a:xfrm>
          <a:prstGeom prst="line">
            <a:avLst/>
          </a:prstGeom>
          <a:ln w="15875">
            <a:solidFill>
              <a:srgbClr val="5F6368"/>
            </a:solidFill>
            <a:tailEnd type="triangle" w="med" h="med"/>
          </a:ln>
        </p:spPr>
      </p:cxnSp>
      <p:sp>
        <p:nvSpPr>
          <p:cNvPr id="105" name="Rounded Rectangle 104"/>
          <p:cNvSpPr/>
          <p:nvPr/>
        </p:nvSpPr>
        <p:spPr>
          <a:xfrm>
            <a:off x="3233318" y="1325880"/>
            <a:ext cx="1243584" cy="96012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06" name="Picture 105" descr="twi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1334" y="1444752"/>
            <a:ext cx="256032" cy="256032"/>
          </a:xfrm>
          <a:prstGeom prst="rect">
            <a:avLst/>
          </a:prstGeom>
        </p:spPr>
      </p:pic>
      <p:sp>
        <p:nvSpPr>
          <p:cNvPr id="107" name="TextBox 106"/>
          <p:cNvSpPr txBox="1"/>
          <p:nvPr/>
        </p:nvSpPr>
        <p:spPr>
          <a:xfrm>
            <a:off x="3361334" y="1737360"/>
            <a:ext cx="10607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3 · Twin</a:t>
            </a:r>
          </a:p>
          <a:p>
            <a:pPr algn="l">
              <a:lnSpc>
                <a:spcPct val="108000"/>
              </a:lnSpc>
            </a:pPr>
            <a:r>
              <a:rPr sz="90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Real data in 3D</a:t>
            </a:r>
          </a:p>
        </p:txBody>
      </p:sp>
      <p:cxnSp>
        <p:nvCxnSpPr>
          <p:cNvPr id="108" name="Connector 107"/>
          <p:cNvCxnSpPr/>
          <p:nvPr/>
        </p:nvCxnSpPr>
        <p:spPr>
          <a:xfrm>
            <a:off x="4504334" y="1805940"/>
            <a:ext cx="135331" cy="0"/>
          </a:xfrm>
          <a:prstGeom prst="line">
            <a:avLst/>
          </a:prstGeom>
          <a:ln w="15875">
            <a:solidFill>
              <a:srgbClr val="5F6368"/>
            </a:solidFill>
            <a:tailEnd type="triangle" w="med" h="med"/>
          </a:ln>
        </p:spPr>
      </p:cxnSp>
      <p:sp>
        <p:nvSpPr>
          <p:cNvPr id="109" name="Rounded Rectangle 108"/>
          <p:cNvSpPr/>
          <p:nvPr/>
        </p:nvSpPr>
        <p:spPr>
          <a:xfrm>
            <a:off x="4667097" y="1325880"/>
            <a:ext cx="1243584" cy="960120"/>
          </a:xfrm>
          <a:prstGeom prst="roundRect">
            <a:avLst>
              <a:gd name="adj" fmla="val 8000"/>
            </a:avLst>
          </a:prstGeom>
          <a:solidFill>
            <a:srgbClr val="188038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10" name="Picture 109" descr="ai-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95113" y="1444752"/>
            <a:ext cx="256032" cy="256032"/>
          </a:xfrm>
          <a:prstGeom prst="rect">
            <a:avLst/>
          </a:prstGeom>
        </p:spPr>
      </p:pic>
      <p:sp>
        <p:nvSpPr>
          <p:cNvPr id="111" name="TextBox 110"/>
          <p:cNvSpPr txBox="1"/>
          <p:nvPr/>
        </p:nvSpPr>
        <p:spPr>
          <a:xfrm>
            <a:off x="4795113" y="1737360"/>
            <a:ext cx="10607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</a:rPr>
              <a:t>4 · Plan</a:t>
            </a:r>
          </a:p>
          <a:p>
            <a:pPr algn="l">
              <a:lnSpc>
                <a:spcPct val="108000"/>
              </a:lnSpc>
            </a:pPr>
            <a:r>
              <a:rPr sz="900">
                <a:solidFill>
                  <a:srgbClr val="FFFFFF"/>
                </a:solidFill>
                <a:latin typeface="Google Sans Flex"/>
                <a:ea typeface="Google Sans Flex"/>
                <a:cs typeface="Google Sans Flex"/>
              </a:rPr>
              <a:t>By hand or with Gemini</a:t>
            </a:r>
          </a:p>
        </p:txBody>
      </p:sp>
      <p:cxnSp>
        <p:nvCxnSpPr>
          <p:cNvPr id="112" name="Connector 111"/>
          <p:cNvCxnSpPr/>
          <p:nvPr/>
        </p:nvCxnSpPr>
        <p:spPr>
          <a:xfrm>
            <a:off x="5938113" y="1805940"/>
            <a:ext cx="135331" cy="0"/>
          </a:xfrm>
          <a:prstGeom prst="line">
            <a:avLst/>
          </a:prstGeom>
          <a:ln w="15875">
            <a:solidFill>
              <a:srgbClr val="5F6368"/>
            </a:solidFill>
            <a:tailEnd type="triangle" w="med" h="med"/>
          </a:ln>
        </p:spPr>
      </p:cxnSp>
      <p:sp>
        <p:nvSpPr>
          <p:cNvPr id="113" name="Rounded Rectangle 112"/>
          <p:cNvSpPr/>
          <p:nvPr/>
        </p:nvSpPr>
        <p:spPr>
          <a:xfrm>
            <a:off x="6100876" y="1325880"/>
            <a:ext cx="1243584" cy="96012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14" name="Picture 113" descr="revie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28892" y="1444752"/>
            <a:ext cx="256032" cy="256032"/>
          </a:xfrm>
          <a:prstGeom prst="rect">
            <a:avLst/>
          </a:prstGeom>
        </p:spPr>
      </p:pic>
      <p:sp>
        <p:nvSpPr>
          <p:cNvPr id="115" name="TextBox 114"/>
          <p:cNvSpPr txBox="1"/>
          <p:nvPr/>
        </p:nvSpPr>
        <p:spPr>
          <a:xfrm>
            <a:off x="6228892" y="1737360"/>
            <a:ext cx="10607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5 · Review</a:t>
            </a:r>
          </a:p>
          <a:p>
            <a:pPr algn="l">
              <a:lnSpc>
                <a:spcPct val="108000"/>
              </a:lnSpc>
            </a:pPr>
            <a:r>
              <a:rPr sz="90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Before and after</a:t>
            </a:r>
          </a:p>
        </p:txBody>
      </p:sp>
      <p:cxnSp>
        <p:nvCxnSpPr>
          <p:cNvPr id="116" name="Connector 115"/>
          <p:cNvCxnSpPr/>
          <p:nvPr/>
        </p:nvCxnSpPr>
        <p:spPr>
          <a:xfrm>
            <a:off x="7371892" y="1805940"/>
            <a:ext cx="135332" cy="0"/>
          </a:xfrm>
          <a:prstGeom prst="line">
            <a:avLst/>
          </a:prstGeom>
          <a:ln w="15875">
            <a:solidFill>
              <a:srgbClr val="5F6368"/>
            </a:solidFill>
            <a:tailEnd type="triangle" w="med" h="med"/>
          </a:ln>
        </p:spPr>
      </p:cxnSp>
      <p:sp>
        <p:nvSpPr>
          <p:cNvPr id="117" name="Rounded Rectangle 116"/>
          <p:cNvSpPr/>
          <p:nvPr/>
        </p:nvSpPr>
        <p:spPr>
          <a:xfrm>
            <a:off x="7534656" y="1325880"/>
            <a:ext cx="1243584" cy="96012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18" name="Picture 117" descr="ac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62672" y="1444752"/>
            <a:ext cx="256032" cy="256032"/>
          </a:xfrm>
          <a:prstGeom prst="rect">
            <a:avLst/>
          </a:prstGeom>
        </p:spPr>
      </p:pic>
      <p:sp>
        <p:nvSpPr>
          <p:cNvPr id="119" name="TextBox 118"/>
          <p:cNvSpPr txBox="1"/>
          <p:nvPr/>
        </p:nvSpPr>
        <p:spPr>
          <a:xfrm>
            <a:off x="7662672" y="1737360"/>
            <a:ext cx="106070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6 · Act</a:t>
            </a:r>
          </a:p>
          <a:p>
            <a:pPr algn="l">
              <a:lnSpc>
                <a:spcPct val="108000"/>
              </a:lnSpc>
            </a:pPr>
            <a:r>
              <a:rPr sz="90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Fund and build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365760" y="2487168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50">
                <a:solidFill>
                  <a:srgbClr val="188038"/>
                </a:solidFill>
                <a:latin typeface="Google Sans Flex SemiBold"/>
                <a:ea typeface="Google Sans Flex SemiBold"/>
                <a:cs typeface="Google Sans Flex SemiBold"/>
              </a:rPr>
              <a:t>ONE REAL RUN · LAJPAT NAGAR, NEW DELHI · ₹20 LAKH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365760" y="2743200"/>
            <a:ext cx="155448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22" name="Oval 121"/>
          <p:cNvSpPr/>
          <p:nvPr/>
        </p:nvSpPr>
        <p:spPr>
          <a:xfrm>
            <a:off x="512064" y="2880360"/>
            <a:ext cx="365760" cy="365760"/>
          </a:xfrm>
          <a:prstGeom prst="ellipse">
            <a:avLst/>
          </a:prstGeom>
          <a:solidFill>
            <a:srgbClr val="E6F4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23" name="Picture 122" descr="brief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2531" y="2960827"/>
            <a:ext cx="204825" cy="204825"/>
          </a:xfrm>
          <a:prstGeom prst="rect">
            <a:avLst/>
          </a:prstGeom>
        </p:spPr>
      </p:pic>
      <p:sp>
        <p:nvSpPr>
          <p:cNvPr id="124" name="TextBox 123"/>
          <p:cNvSpPr txBox="1"/>
          <p:nvPr/>
        </p:nvSpPr>
        <p:spPr>
          <a:xfrm>
            <a:off x="512064" y="33101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The brief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512064" y="3584448"/>
            <a:ext cx="129844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“Keep shoppers and school children cool, and protect elderly residents in dense homes.”</a:t>
            </a:r>
          </a:p>
        </p:txBody>
      </p:sp>
      <p:cxnSp>
        <p:nvCxnSpPr>
          <p:cNvPr id="126" name="Connector 125"/>
          <p:cNvCxnSpPr/>
          <p:nvPr/>
        </p:nvCxnSpPr>
        <p:spPr>
          <a:xfrm>
            <a:off x="1938528" y="3675887"/>
            <a:ext cx="123444" cy="0"/>
          </a:xfrm>
          <a:prstGeom prst="line">
            <a:avLst/>
          </a:prstGeom>
          <a:ln w="15875">
            <a:solidFill>
              <a:srgbClr val="188038"/>
            </a:solidFill>
            <a:tailEnd type="triangle" w="med" h="med"/>
          </a:ln>
        </p:spPr>
      </p:cxnSp>
      <p:sp>
        <p:nvSpPr>
          <p:cNvPr id="127" name="Rounded Rectangle 126"/>
          <p:cNvSpPr/>
          <p:nvPr/>
        </p:nvSpPr>
        <p:spPr>
          <a:xfrm>
            <a:off x="2080260" y="2743200"/>
            <a:ext cx="155448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28" name="Oval 127"/>
          <p:cNvSpPr/>
          <p:nvPr/>
        </p:nvSpPr>
        <p:spPr>
          <a:xfrm>
            <a:off x="2226564" y="2880360"/>
            <a:ext cx="365760" cy="365760"/>
          </a:xfrm>
          <a:prstGeom prst="ellipse">
            <a:avLst/>
          </a:prstGeom>
          <a:solidFill>
            <a:srgbClr val="E6F4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29" name="Picture 128" descr="ai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307031" y="2960827"/>
            <a:ext cx="204825" cy="204825"/>
          </a:xfrm>
          <a:prstGeom prst="rect">
            <a:avLst/>
          </a:prstGeom>
        </p:spPr>
      </p:pic>
      <p:sp>
        <p:nvSpPr>
          <p:cNvPr id="130" name="TextBox 129"/>
          <p:cNvSpPr txBox="1"/>
          <p:nvPr/>
        </p:nvSpPr>
        <p:spPr>
          <a:xfrm>
            <a:off x="2226564" y="33101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Gemini works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2226564" y="3584448"/>
            <a:ext cx="129844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Reads the heat, trees and people; tests 3 plans; checks 2 of them itself.</a:t>
            </a:r>
          </a:p>
        </p:txBody>
      </p:sp>
      <p:cxnSp>
        <p:nvCxnSpPr>
          <p:cNvPr id="132" name="Connector 131"/>
          <p:cNvCxnSpPr/>
          <p:nvPr/>
        </p:nvCxnSpPr>
        <p:spPr>
          <a:xfrm>
            <a:off x="3653027" y="3675887"/>
            <a:ext cx="123445" cy="0"/>
          </a:xfrm>
          <a:prstGeom prst="line">
            <a:avLst/>
          </a:prstGeom>
          <a:ln w="15875">
            <a:solidFill>
              <a:srgbClr val="188038"/>
            </a:solidFill>
            <a:tailEnd type="triangle" w="med" h="med"/>
          </a:ln>
        </p:spPr>
      </p:cxnSp>
      <p:sp>
        <p:nvSpPr>
          <p:cNvPr id="133" name="Rounded Rectangle 132"/>
          <p:cNvSpPr/>
          <p:nvPr/>
        </p:nvSpPr>
        <p:spPr>
          <a:xfrm>
            <a:off x="3794760" y="2743200"/>
            <a:ext cx="155448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34" name="Oval 133"/>
          <p:cNvSpPr/>
          <p:nvPr/>
        </p:nvSpPr>
        <p:spPr>
          <a:xfrm>
            <a:off x="3941064" y="2880360"/>
            <a:ext cx="365760" cy="365760"/>
          </a:xfrm>
          <a:prstGeom prst="ellipse">
            <a:avLst/>
          </a:prstGeom>
          <a:solidFill>
            <a:srgbClr val="E6F4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35" name="Picture 134" descr="tre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021531" y="2960827"/>
            <a:ext cx="204825" cy="204825"/>
          </a:xfrm>
          <a:prstGeom prst="rect">
            <a:avLst/>
          </a:prstGeom>
        </p:spPr>
      </p:pic>
      <p:sp>
        <p:nvSpPr>
          <p:cNvPr id="136" name="TextBox 135"/>
          <p:cNvSpPr txBox="1"/>
          <p:nvPr/>
        </p:nvSpPr>
        <p:spPr>
          <a:xfrm>
            <a:off x="3941064" y="33101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The plan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941064" y="3584448"/>
            <a:ext cx="129844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466 trees and 69 cool roofs; 497 residents get a cooler roof.</a:t>
            </a:r>
          </a:p>
        </p:txBody>
      </p:sp>
      <p:cxnSp>
        <p:nvCxnSpPr>
          <p:cNvPr id="138" name="Connector 137"/>
          <p:cNvCxnSpPr/>
          <p:nvPr/>
        </p:nvCxnSpPr>
        <p:spPr>
          <a:xfrm>
            <a:off x="5367528" y="3675887"/>
            <a:ext cx="123444" cy="0"/>
          </a:xfrm>
          <a:prstGeom prst="line">
            <a:avLst/>
          </a:prstGeom>
          <a:ln w="15875">
            <a:solidFill>
              <a:srgbClr val="188038"/>
            </a:solidFill>
            <a:tailEnd type="triangle" w="med" h="med"/>
          </a:ln>
        </p:spPr>
      </p:cxnSp>
      <p:sp>
        <p:nvSpPr>
          <p:cNvPr id="139" name="Rounded Rectangle 138"/>
          <p:cNvSpPr/>
          <p:nvPr/>
        </p:nvSpPr>
        <p:spPr>
          <a:xfrm>
            <a:off x="5509260" y="2743200"/>
            <a:ext cx="155448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40" name="Oval 139"/>
          <p:cNvSpPr/>
          <p:nvPr/>
        </p:nvSpPr>
        <p:spPr>
          <a:xfrm>
            <a:off x="5655564" y="2880360"/>
            <a:ext cx="365760" cy="365760"/>
          </a:xfrm>
          <a:prstGeom prst="ellipse">
            <a:avLst/>
          </a:prstGeom>
          <a:solidFill>
            <a:srgbClr val="E6F4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41" name="Picture 140" descr="heat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36031" y="2960827"/>
            <a:ext cx="204825" cy="204825"/>
          </a:xfrm>
          <a:prstGeom prst="rect">
            <a:avLst/>
          </a:prstGeom>
        </p:spPr>
      </p:pic>
      <p:sp>
        <p:nvSpPr>
          <p:cNvPr id="142" name="TextBox 141"/>
          <p:cNvSpPr txBox="1"/>
          <p:nvPr/>
        </p:nvSpPr>
        <p:spPr>
          <a:xfrm>
            <a:off x="5655564" y="33101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The result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5655564" y="3584448"/>
            <a:ext cx="129844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Lajpat Nagar Market 42.7° → 41.9°
School 41.6° → 41.2°</a:t>
            </a:r>
          </a:p>
          <a:p>
            <a:pPr algn="l">
              <a:lnSpc>
                <a:spcPct val="108000"/>
              </a:lnSpc>
              <a:spcBef>
                <a:spcPts val="300"/>
              </a:spcBef>
            </a:pPr>
            <a:r>
              <a:rPr sz="80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Ground temperature, today → with plan</a:t>
            </a:r>
          </a:p>
        </p:txBody>
      </p:sp>
      <p:cxnSp>
        <p:nvCxnSpPr>
          <p:cNvPr id="144" name="Connector 143"/>
          <p:cNvCxnSpPr/>
          <p:nvPr/>
        </p:nvCxnSpPr>
        <p:spPr>
          <a:xfrm>
            <a:off x="7082028" y="3675887"/>
            <a:ext cx="123444" cy="0"/>
          </a:xfrm>
          <a:prstGeom prst="line">
            <a:avLst/>
          </a:prstGeom>
          <a:ln w="15875">
            <a:solidFill>
              <a:srgbClr val="188038"/>
            </a:solidFill>
            <a:tailEnd type="triangle" w="med" h="med"/>
          </a:ln>
        </p:spPr>
      </p:cxnSp>
      <p:sp>
        <p:nvSpPr>
          <p:cNvPr id="145" name="Rounded Rectangle 144"/>
          <p:cNvSpPr/>
          <p:nvPr/>
        </p:nvSpPr>
        <p:spPr>
          <a:xfrm>
            <a:off x="7223760" y="2743200"/>
            <a:ext cx="155448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46" name="Oval 145"/>
          <p:cNvSpPr/>
          <p:nvPr/>
        </p:nvSpPr>
        <p:spPr>
          <a:xfrm>
            <a:off x="7370064" y="2880360"/>
            <a:ext cx="365760" cy="365760"/>
          </a:xfrm>
          <a:prstGeom prst="ellipse">
            <a:avLst/>
          </a:prstGeom>
          <a:solidFill>
            <a:srgbClr val="E6F4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47" name="Picture 146" descr="bill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450531" y="2960827"/>
            <a:ext cx="204825" cy="204825"/>
          </a:xfrm>
          <a:prstGeom prst="rect">
            <a:avLst/>
          </a:prstGeom>
        </p:spPr>
      </p:pic>
      <p:sp>
        <p:nvSpPr>
          <p:cNvPr id="148" name="TextBox 147"/>
          <p:cNvSpPr txBox="1"/>
          <p:nvPr/>
        </p:nvSpPr>
        <p:spPr>
          <a:xfrm>
            <a:off x="7370064" y="3310128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Ready to act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7370064" y="3584448"/>
            <a:ext cx="129844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Bill of materials, funding proposal and local nurseries and contractors.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9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9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9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Wireframes and mock diagrams of the proposed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104" name="Picture 103" descr="2-explor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5760" y="1143000"/>
            <a:ext cx="2809036" cy="1755648"/>
          </a:xfrm>
          <a:prstGeom prst="rect">
            <a:avLst/>
          </a:prstGeom>
        </p:spPr>
      </p:pic>
      <p:sp>
        <p:nvSpPr>
          <p:cNvPr id="105" name="TextBox 104"/>
          <p:cNvSpPr txBox="1"/>
          <p:nvPr/>
        </p:nvSpPr>
        <p:spPr>
          <a:xfrm>
            <a:off x="3339388" y="1188720"/>
            <a:ext cx="1159459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1 · Find and mark</a:t>
            </a:r>
          </a:p>
          <a:p>
            <a:pPr algn="l">
              <a:lnSpc>
                <a:spcPct val="108000"/>
              </a:lnSpc>
              <a:spcBef>
                <a:spcPts val="300"/>
              </a:spcBef>
            </a:pPr>
            <a:r>
              <a:rPr sz="95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Search a place and drag a box on the satellite map.</a:t>
            </a:r>
          </a:p>
        </p:txBody>
      </p:sp>
      <p:pic>
        <p:nvPicPr>
          <p:cNvPr id="106" name="Picture 105" descr="4c-studio-plan-hea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45152" y="1143000"/>
            <a:ext cx="2809036" cy="1755648"/>
          </a:xfrm>
          <a:prstGeom prst="rect">
            <a:avLst/>
          </a:prstGeom>
        </p:spPr>
      </p:pic>
      <p:sp>
        <p:nvSpPr>
          <p:cNvPr id="107" name="TextBox 106"/>
          <p:cNvSpPr txBox="1"/>
          <p:nvPr/>
        </p:nvSpPr>
        <p:spPr>
          <a:xfrm>
            <a:off x="7618779" y="1188720"/>
            <a:ext cx="115946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2 · Design in 3D</a:t>
            </a:r>
          </a:p>
          <a:p>
            <a:pPr algn="l">
              <a:lnSpc>
                <a:spcPct val="108000"/>
              </a:lnSpc>
              <a:spcBef>
                <a:spcPts val="300"/>
              </a:spcBef>
            </a:pPr>
            <a:r>
              <a:rPr sz="95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The area's real heat; place trees, roofs and shelters.</a:t>
            </a:r>
          </a:p>
        </p:txBody>
      </p:sp>
      <p:pic>
        <p:nvPicPr>
          <p:cNvPr id="108" name="Picture 107" descr="3c-ai-resul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5760" y="3044952"/>
            <a:ext cx="2809036" cy="1755648"/>
          </a:xfrm>
          <a:prstGeom prst="rect">
            <a:avLst/>
          </a:prstGeom>
        </p:spPr>
      </p:pic>
      <p:sp>
        <p:nvSpPr>
          <p:cNvPr id="109" name="TextBox 108"/>
          <p:cNvSpPr txBox="1"/>
          <p:nvPr/>
        </p:nvSpPr>
        <p:spPr>
          <a:xfrm>
            <a:off x="3339388" y="3090672"/>
            <a:ext cx="1159459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3 · Ask Gemini</a:t>
            </a:r>
          </a:p>
          <a:p>
            <a:pPr algn="l">
              <a:lnSpc>
                <a:spcPct val="108000"/>
              </a:lnSpc>
              <a:spcBef>
                <a:spcPts val="300"/>
              </a:spcBef>
            </a:pPr>
            <a:r>
              <a:rPr sz="95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A brief and a budget in; a tested, explained plan out.</a:t>
            </a:r>
          </a:p>
        </p:txBody>
      </p:sp>
      <p:pic>
        <p:nvPicPr>
          <p:cNvPr id="110" name="Picture 109" descr="6b-quot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45152" y="3044952"/>
            <a:ext cx="2809036" cy="1755648"/>
          </a:xfrm>
          <a:prstGeom prst="rect">
            <a:avLst/>
          </a:prstGeom>
        </p:spPr>
      </p:pic>
      <p:sp>
        <p:nvSpPr>
          <p:cNvPr id="111" name="TextBox 110"/>
          <p:cNvSpPr txBox="1"/>
          <p:nvPr/>
        </p:nvSpPr>
        <p:spPr>
          <a:xfrm>
            <a:off x="7618779" y="3090672"/>
            <a:ext cx="115946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4 · Fund and build</a:t>
            </a:r>
          </a:p>
          <a:p>
            <a:pPr algn="l">
              <a:lnSpc>
                <a:spcPct val="108000"/>
              </a:lnSpc>
              <a:spcBef>
                <a:spcPts val="300"/>
              </a:spcBef>
            </a:pPr>
            <a:r>
              <a:rPr sz="95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Real local vendors and a quote message, ready to send.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0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0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Architecture diagram of the proposed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12" name="Rounded Rectangle 111"/>
          <p:cNvSpPr/>
          <p:nvPr/>
        </p:nvSpPr>
        <p:spPr>
          <a:xfrm>
            <a:off x="365760" y="1325880"/>
            <a:ext cx="160020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13" name="Oval 112"/>
          <p:cNvSpPr/>
          <p:nvPr/>
        </p:nvSpPr>
        <p:spPr>
          <a:xfrm>
            <a:off x="530352" y="1463040"/>
            <a:ext cx="402336" cy="402336"/>
          </a:xfrm>
          <a:prstGeom prst="ellipse">
            <a:avLst/>
          </a:prstGeom>
          <a:solidFill>
            <a:srgbClr val="E6F4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14" name="Picture 113" descr="peop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8865" y="1551553"/>
            <a:ext cx="225308" cy="225308"/>
          </a:xfrm>
          <a:prstGeom prst="rect">
            <a:avLst/>
          </a:prstGeom>
        </p:spPr>
      </p:pic>
      <p:sp>
        <p:nvSpPr>
          <p:cNvPr id="115" name="TextBox 114"/>
          <p:cNvSpPr txBox="1"/>
          <p:nvPr/>
        </p:nvSpPr>
        <p:spPr>
          <a:xfrm>
            <a:off x="530352" y="192024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People</a:t>
            </a:r>
          </a:p>
          <a:p>
            <a:pPr algn="l">
              <a:lnSpc>
                <a:spcPct val="108000"/>
              </a:lnSpc>
            </a:pPr>
            <a:r>
              <a:rPr sz="85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Residents, RWAs, ward officers, NGOs</a:t>
            </a:r>
          </a:p>
        </p:txBody>
      </p:sp>
      <p:cxnSp>
        <p:nvCxnSpPr>
          <p:cNvPr id="116" name="Connector 115"/>
          <p:cNvCxnSpPr/>
          <p:nvPr/>
        </p:nvCxnSpPr>
        <p:spPr>
          <a:xfrm>
            <a:off x="1170432" y="2578608"/>
            <a:ext cx="0" cy="329184"/>
          </a:xfrm>
          <a:prstGeom prst="line">
            <a:avLst/>
          </a:prstGeom>
          <a:ln w="15875">
            <a:solidFill>
              <a:srgbClr val="188038"/>
            </a:solidFill>
            <a:tailEnd type="triangle" w="med" h="med"/>
          </a:ln>
        </p:spPr>
      </p:cxnSp>
      <p:sp>
        <p:nvSpPr>
          <p:cNvPr id="117" name="Rounded Rectangle 116"/>
          <p:cNvSpPr/>
          <p:nvPr/>
        </p:nvSpPr>
        <p:spPr>
          <a:xfrm>
            <a:off x="365760" y="2926080"/>
            <a:ext cx="1600200" cy="1645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ADCE0"/>
            </a:solidFill>
          </a:ln>
          <a:effectLst/>
        </p:spPr>
        <p:txBody>
          <a:bodyPr rtlCol="0" anchor="ctr"/>
          <a:lstStyle/>
          <a:p/>
        </p:txBody>
      </p:sp>
      <p:sp>
        <p:nvSpPr>
          <p:cNvPr id="118" name="Oval 117"/>
          <p:cNvSpPr/>
          <p:nvPr/>
        </p:nvSpPr>
        <p:spPr>
          <a:xfrm>
            <a:off x="530352" y="3063240"/>
            <a:ext cx="402336" cy="402336"/>
          </a:xfrm>
          <a:prstGeom prst="ellipse">
            <a:avLst/>
          </a:prstGeom>
          <a:solidFill>
            <a:srgbClr val="E6F4E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19" name="Picture 118" descr="monito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865" y="3151753"/>
            <a:ext cx="225308" cy="225308"/>
          </a:xfrm>
          <a:prstGeom prst="rect">
            <a:avLst/>
          </a:prstGeom>
        </p:spPr>
      </p:pic>
      <p:sp>
        <p:nvSpPr>
          <p:cNvPr id="120" name="TextBox 119"/>
          <p:cNvSpPr txBox="1"/>
          <p:nvPr/>
        </p:nvSpPr>
        <p:spPr>
          <a:xfrm>
            <a:off x="530352" y="3520440"/>
            <a:ext cx="13716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LeafIt web app</a:t>
            </a:r>
          </a:p>
          <a:p>
            <a:pPr algn="l">
              <a:lnSpc>
                <a:spcPct val="108000"/>
              </a:lnSpc>
            </a:pPr>
            <a:r>
              <a:rPr sz="85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Map search, 3D twin, live numbers in the browser</a:t>
            </a:r>
          </a:p>
        </p:txBody>
      </p:sp>
      <p:cxnSp>
        <p:nvCxnSpPr>
          <p:cNvPr id="121" name="Connector 120"/>
          <p:cNvCxnSpPr/>
          <p:nvPr/>
        </p:nvCxnSpPr>
        <p:spPr>
          <a:xfrm>
            <a:off x="2011680" y="3749039"/>
            <a:ext cx="502920" cy="0"/>
          </a:xfrm>
          <a:prstGeom prst="line">
            <a:avLst/>
          </a:prstGeom>
          <a:ln w="15875">
            <a:solidFill>
              <a:srgbClr val="188038"/>
            </a:solidFill>
            <a:tailEnd type="triangle" w="med" h="med"/>
          </a:ln>
        </p:spPr>
      </p:cxnSp>
      <p:cxnSp>
        <p:nvCxnSpPr>
          <p:cNvPr id="122" name="Connector 121"/>
          <p:cNvCxnSpPr/>
          <p:nvPr/>
        </p:nvCxnSpPr>
        <p:spPr>
          <a:xfrm flipH="1">
            <a:off x="2011680" y="3977639"/>
            <a:ext cx="502920" cy="0"/>
          </a:xfrm>
          <a:prstGeom prst="line">
            <a:avLst/>
          </a:prstGeom>
          <a:ln w="15875">
            <a:solidFill>
              <a:srgbClr val="5F6368"/>
            </a:solidFill>
            <a:tailEnd type="triangle" w="med" h="med"/>
          </a:ln>
        </p:spPr>
      </p:cxnSp>
      <p:sp>
        <p:nvSpPr>
          <p:cNvPr id="123" name="Rounded Rectangle 122"/>
          <p:cNvSpPr/>
          <p:nvPr/>
        </p:nvSpPr>
        <p:spPr>
          <a:xfrm>
            <a:off x="2560320" y="1325880"/>
            <a:ext cx="2331720" cy="3246120"/>
          </a:xfrm>
          <a:prstGeom prst="roundRect">
            <a:avLst>
              <a:gd name="adj" fmla="val 8000"/>
            </a:avLst>
          </a:prstGeom>
          <a:solidFill>
            <a:srgbClr val="1E1F21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24" name="Picture 123" descr="b-gclou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43200" y="1481328"/>
            <a:ext cx="329184" cy="329184"/>
          </a:xfrm>
          <a:prstGeom prst="rect">
            <a:avLst/>
          </a:prstGeom>
        </p:spPr>
      </p:pic>
      <p:sp>
        <p:nvSpPr>
          <p:cNvPr id="125" name="TextBox 124"/>
          <p:cNvSpPr txBox="1"/>
          <p:nvPr/>
        </p:nvSpPr>
        <p:spPr>
          <a:xfrm>
            <a:off x="3154680" y="1463040"/>
            <a:ext cx="1691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</a:rPr>
              <a:t>LeafIt server</a:t>
            </a:r>
          </a:p>
          <a:p>
            <a:pPr algn="l">
              <a:lnSpc>
                <a:spcPct val="108000"/>
              </a:lnSpc>
            </a:pPr>
            <a:r>
              <a:rPr sz="850">
                <a:solidFill>
                  <a:srgbClr val="BDC1C6"/>
                </a:solidFill>
                <a:latin typeface="Google Sans Flex"/>
                <a:ea typeface="Google Sans Flex"/>
                <a:cs typeface="Google Sans Flex"/>
              </a:rPr>
              <a:t>Google Cloud Run</a:t>
            </a:r>
          </a:p>
        </p:txBody>
      </p:sp>
      <p:pic>
        <p:nvPicPr>
          <p:cNvPr id="126" name="Picture 125" descr="twin-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43200" y="2084831"/>
            <a:ext cx="237744" cy="237744"/>
          </a:xfrm>
          <a:prstGeom prst="rect">
            <a:avLst/>
          </a:prstGeom>
        </p:spPr>
      </p:pic>
      <p:sp>
        <p:nvSpPr>
          <p:cNvPr id="127" name="TextBox 126"/>
          <p:cNvSpPr txBox="1"/>
          <p:nvPr/>
        </p:nvSpPr>
        <p:spPr>
          <a:xfrm>
            <a:off x="3090672" y="2039112"/>
            <a:ext cx="1691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</a:rPr>
              <a:t>Builds the twin</a:t>
            </a:r>
          </a:p>
          <a:p>
            <a:pPr algn="l">
              <a:lnSpc>
                <a:spcPct val="108000"/>
              </a:lnSpc>
            </a:pPr>
            <a:r>
              <a:rPr sz="800">
                <a:solidFill>
                  <a:srgbClr val="BDC1C6"/>
                </a:solidFill>
                <a:latin typeface="Google Sans Flex"/>
                <a:ea typeface="Google Sans Flex"/>
                <a:cs typeface="Google Sans Flex"/>
              </a:rPr>
              <a:t>Combines nine data sources for the marked area</a:t>
            </a:r>
          </a:p>
        </p:txBody>
      </p:sp>
      <p:pic>
        <p:nvPicPr>
          <p:cNvPr id="128" name="Picture 127" descr="ai-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43200" y="2889503"/>
            <a:ext cx="237744" cy="237744"/>
          </a:xfrm>
          <a:prstGeom prst="rect">
            <a:avLst/>
          </a:prstGeom>
        </p:spPr>
      </p:pic>
      <p:sp>
        <p:nvSpPr>
          <p:cNvPr id="129" name="TextBox 128"/>
          <p:cNvSpPr txBox="1"/>
          <p:nvPr/>
        </p:nvSpPr>
        <p:spPr>
          <a:xfrm>
            <a:off x="3090672" y="2843784"/>
            <a:ext cx="1691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</a:rPr>
              <a:t>Plans with Gemini</a:t>
            </a:r>
          </a:p>
          <a:p>
            <a:pPr algn="l">
              <a:lnSpc>
                <a:spcPct val="108000"/>
              </a:lnSpc>
            </a:pPr>
            <a:r>
              <a:rPr sz="800">
                <a:solidFill>
                  <a:srgbClr val="BDC1C6"/>
                </a:solidFill>
                <a:latin typeface="Google Sans Flex"/>
                <a:ea typeface="Google Sans Flex"/>
                <a:cs typeface="Google Sans Flex"/>
              </a:rPr>
              <a:t>Tests options, checks them, explains the choice</a:t>
            </a:r>
          </a:p>
        </p:txBody>
      </p:sp>
      <p:pic>
        <p:nvPicPr>
          <p:cNvPr id="130" name="Picture 129" descr="check-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43200" y="3694176"/>
            <a:ext cx="237744" cy="237744"/>
          </a:xfrm>
          <a:prstGeom prst="rect">
            <a:avLst/>
          </a:prstGeom>
        </p:spPr>
      </p:pic>
      <p:sp>
        <p:nvSpPr>
          <p:cNvPr id="131" name="TextBox 130"/>
          <p:cNvSpPr txBox="1"/>
          <p:nvPr/>
        </p:nvSpPr>
        <p:spPr>
          <a:xfrm>
            <a:off x="3090672" y="3648456"/>
            <a:ext cx="16916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>
                <a:solidFill>
                  <a:srgbClr val="FFFFFF"/>
                </a:solidFill>
                <a:latin typeface="Google Sans Flex SemiBold"/>
                <a:ea typeface="Google Sans Flex SemiBold"/>
                <a:cs typeface="Google Sans Flex SemiBold"/>
              </a:rPr>
              <a:t>Checks every number</a:t>
            </a:r>
          </a:p>
          <a:p>
            <a:pPr algn="l">
              <a:lnSpc>
                <a:spcPct val="108000"/>
              </a:lnSpc>
            </a:pPr>
            <a:r>
              <a:rPr sz="800">
                <a:solidFill>
                  <a:srgbClr val="BDC1C6"/>
                </a:solidFill>
                <a:latin typeface="Google Sans Flex"/>
                <a:ea typeface="Google Sans Flex"/>
                <a:cs typeface="Google Sans Flex"/>
              </a:rPr>
              <a:t>Simulator figures only; nothing invented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5486400" y="1325880"/>
            <a:ext cx="3291840" cy="73152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33" name="Picture 132" descr="b-gclou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23560" y="1527048"/>
            <a:ext cx="329184" cy="329184"/>
          </a:xfrm>
          <a:prstGeom prst="rect">
            <a:avLst/>
          </a:prstGeom>
        </p:spPr>
      </p:pic>
      <p:sp>
        <p:nvSpPr>
          <p:cNvPr id="134" name="TextBox 133"/>
          <p:cNvSpPr txBox="1"/>
          <p:nvPr/>
        </p:nvSpPr>
        <p:spPr>
          <a:xfrm>
            <a:off x="6080760" y="1417320"/>
            <a:ext cx="26517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Google Earth Engine</a:t>
            </a:r>
          </a:p>
          <a:p>
            <a:pPr algn="l">
              <a:lnSpc>
                <a:spcPct val="108000"/>
              </a:lnSpc>
            </a:pPr>
            <a:r>
              <a:rPr sz="85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Satellite heat, tree canopy, buildings, population</a:t>
            </a:r>
          </a:p>
        </p:txBody>
      </p:sp>
      <p:cxnSp>
        <p:nvCxnSpPr>
          <p:cNvPr id="135" name="Connector 134"/>
          <p:cNvCxnSpPr/>
          <p:nvPr/>
        </p:nvCxnSpPr>
        <p:spPr>
          <a:xfrm>
            <a:off x="4919472" y="1691640"/>
            <a:ext cx="539496" cy="0"/>
          </a:xfrm>
          <a:prstGeom prst="line">
            <a:avLst/>
          </a:prstGeom>
          <a:ln w="15875">
            <a:solidFill>
              <a:srgbClr val="5F6368"/>
            </a:solidFill>
            <a:tailEnd type="triangle" w="med" h="med"/>
          </a:ln>
        </p:spPr>
      </p:cxnSp>
      <p:sp>
        <p:nvSpPr>
          <p:cNvPr id="136" name="Rounded Rectangle 135"/>
          <p:cNvSpPr/>
          <p:nvPr/>
        </p:nvSpPr>
        <p:spPr>
          <a:xfrm>
            <a:off x="5486400" y="2148840"/>
            <a:ext cx="3291840" cy="73152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37" name="Picture 136" descr="b-map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23560" y="2350008"/>
            <a:ext cx="329184" cy="329184"/>
          </a:xfrm>
          <a:prstGeom prst="rect">
            <a:avLst/>
          </a:prstGeom>
        </p:spPr>
      </p:pic>
      <p:sp>
        <p:nvSpPr>
          <p:cNvPr id="138" name="TextBox 137"/>
          <p:cNvSpPr txBox="1"/>
          <p:nvPr/>
        </p:nvSpPr>
        <p:spPr>
          <a:xfrm>
            <a:off x="6080760" y="2240280"/>
            <a:ext cx="26517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Google Maps Platform</a:t>
            </a:r>
          </a:p>
          <a:p>
            <a:pPr algn="l">
              <a:lnSpc>
                <a:spcPct val="108000"/>
              </a:lnSpc>
            </a:pPr>
            <a:r>
              <a:rPr sz="85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Search, satellite imagery, places, air quality</a:t>
            </a:r>
          </a:p>
        </p:txBody>
      </p:sp>
      <p:cxnSp>
        <p:nvCxnSpPr>
          <p:cNvPr id="139" name="Connector 138"/>
          <p:cNvCxnSpPr/>
          <p:nvPr/>
        </p:nvCxnSpPr>
        <p:spPr>
          <a:xfrm>
            <a:off x="4919472" y="2514600"/>
            <a:ext cx="539496" cy="0"/>
          </a:xfrm>
          <a:prstGeom prst="line">
            <a:avLst/>
          </a:prstGeom>
          <a:ln w="15875">
            <a:solidFill>
              <a:srgbClr val="5F6368"/>
            </a:solidFill>
            <a:tailEnd type="triangle" w="med" h="med"/>
          </a:ln>
        </p:spPr>
      </p:cxnSp>
      <p:sp>
        <p:nvSpPr>
          <p:cNvPr id="140" name="Rounded Rectangle 139"/>
          <p:cNvSpPr/>
          <p:nvPr/>
        </p:nvSpPr>
        <p:spPr>
          <a:xfrm>
            <a:off x="5486400" y="2971800"/>
            <a:ext cx="3291840" cy="73152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41" name="Picture 140" descr="b-gemini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23560" y="3172968"/>
            <a:ext cx="329184" cy="329184"/>
          </a:xfrm>
          <a:prstGeom prst="rect">
            <a:avLst/>
          </a:prstGeom>
        </p:spPr>
      </p:pic>
      <p:sp>
        <p:nvSpPr>
          <p:cNvPr id="142" name="TextBox 141"/>
          <p:cNvSpPr txBox="1"/>
          <p:nvPr/>
        </p:nvSpPr>
        <p:spPr>
          <a:xfrm>
            <a:off x="6080760" y="3063240"/>
            <a:ext cx="26517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Gemini on Vertex AI</a:t>
            </a:r>
          </a:p>
          <a:p>
            <a:pPr algn="l">
              <a:lnSpc>
                <a:spcPct val="108000"/>
              </a:lnSpc>
            </a:pPr>
            <a:r>
              <a:rPr sz="85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Reads the place, tests plans, explains</a:t>
            </a:r>
          </a:p>
        </p:txBody>
      </p:sp>
      <p:cxnSp>
        <p:nvCxnSpPr>
          <p:cNvPr id="143" name="Connector 142"/>
          <p:cNvCxnSpPr/>
          <p:nvPr/>
        </p:nvCxnSpPr>
        <p:spPr>
          <a:xfrm>
            <a:off x="4919472" y="3337560"/>
            <a:ext cx="539496" cy="0"/>
          </a:xfrm>
          <a:prstGeom prst="line">
            <a:avLst/>
          </a:prstGeom>
          <a:ln w="15875">
            <a:solidFill>
              <a:srgbClr val="5F6368"/>
            </a:solidFill>
            <a:tailEnd type="triangle" w="med" h="med"/>
          </a:ln>
        </p:spPr>
      </p:cxnSp>
      <p:sp>
        <p:nvSpPr>
          <p:cNvPr id="144" name="Rounded Rectangle 143"/>
          <p:cNvSpPr/>
          <p:nvPr/>
        </p:nvSpPr>
        <p:spPr>
          <a:xfrm>
            <a:off x="5486400" y="3794760"/>
            <a:ext cx="3291840" cy="73152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45" name="Picture 144" descr="b-osm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23560" y="3995928"/>
            <a:ext cx="329184" cy="329184"/>
          </a:xfrm>
          <a:prstGeom prst="rect">
            <a:avLst/>
          </a:prstGeom>
        </p:spPr>
      </p:pic>
      <p:sp>
        <p:nvSpPr>
          <p:cNvPr id="146" name="TextBox 145"/>
          <p:cNvSpPr txBox="1"/>
          <p:nvPr/>
        </p:nvSpPr>
        <p:spPr>
          <a:xfrm>
            <a:off x="6080760" y="3886200"/>
            <a:ext cx="26517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00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Open data</a:t>
            </a:r>
          </a:p>
          <a:p>
            <a:pPr algn="l">
              <a:lnSpc>
                <a:spcPct val="108000"/>
              </a:lnSpc>
            </a:pPr>
            <a:r>
              <a:rPr sz="85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OpenStreetMap roads, Open-Meteo climate</a:t>
            </a:r>
          </a:p>
        </p:txBody>
      </p:sp>
      <p:cxnSp>
        <p:nvCxnSpPr>
          <p:cNvPr id="147" name="Connector 146"/>
          <p:cNvCxnSpPr/>
          <p:nvPr/>
        </p:nvCxnSpPr>
        <p:spPr>
          <a:xfrm>
            <a:off x="4919472" y="4160520"/>
            <a:ext cx="539496" cy="0"/>
          </a:xfrm>
          <a:prstGeom prst="line">
            <a:avLst/>
          </a:prstGeom>
          <a:ln w="15875">
            <a:solidFill>
              <a:srgbClr val="5F6368"/>
            </a:solidFill>
            <a:tailEnd type="triangle" w="med" h="med"/>
          </a:ln>
        </p:spPr>
      </p:cxnSp>
      <p:sp>
        <p:nvSpPr>
          <p:cNvPr id="148" name="TextBox 147"/>
          <p:cNvSpPr txBox="1"/>
          <p:nvPr/>
        </p:nvSpPr>
        <p:spPr>
          <a:xfrm>
            <a:off x="1261872" y="2615184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00">
                <a:solidFill>
                  <a:srgbClr val="188038"/>
                </a:solidFill>
                <a:latin typeface="Google Sans Flex Medium"/>
                <a:ea typeface="Google Sans Flex Medium"/>
                <a:cs typeface="Google Sans Flex Medium"/>
              </a:rPr>
              <a:t>search, mark, ask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1947672" y="3456432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750">
                <a:solidFill>
                  <a:srgbClr val="188038"/>
                </a:solidFill>
                <a:latin typeface="Google Sans Flex Medium"/>
                <a:ea typeface="Google Sans Flex Medium"/>
                <a:cs typeface="Google Sans Flex Medium"/>
              </a:rPr>
              <a:t>area, brief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1947672" y="4023360"/>
            <a:ext cx="685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750">
                <a:solidFill>
                  <a:srgbClr val="5F6368"/>
                </a:solidFill>
                <a:latin typeface="Google Sans Flex Medium"/>
                <a:ea typeface="Google Sans Flex Medium"/>
                <a:cs typeface="Google Sans Flex Medium"/>
              </a:rPr>
              <a:t>plan, heat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1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1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1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Technologies used in the solution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20" name="Rounded Rectangle 119"/>
          <p:cNvSpPr/>
          <p:nvPr/>
        </p:nvSpPr>
        <p:spPr>
          <a:xfrm>
            <a:off x="365760" y="1188720"/>
            <a:ext cx="2697480" cy="169164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21" name="TextBox 120"/>
          <p:cNvSpPr txBox="1"/>
          <p:nvPr/>
        </p:nvSpPr>
        <p:spPr>
          <a:xfrm>
            <a:off x="566928" y="1353312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50">
                <a:solidFill>
                  <a:srgbClr val="188038"/>
                </a:solidFill>
                <a:latin typeface="Google Sans Flex SemiBold"/>
                <a:ea typeface="Google Sans Flex SemiBold"/>
                <a:cs typeface="Google Sans Flex SemiBold"/>
              </a:rPr>
              <a:t>GOOGLE AI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566928" y="1691640"/>
            <a:ext cx="1143000" cy="43891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23" name="Picture 122" descr="b-gemin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" y="1792224"/>
            <a:ext cx="237744" cy="237744"/>
          </a:xfrm>
          <a:prstGeom prst="rect">
            <a:avLst/>
          </a:prstGeom>
        </p:spPr>
      </p:pic>
      <p:sp>
        <p:nvSpPr>
          <p:cNvPr id="124" name="TextBox 123"/>
          <p:cNvSpPr txBox="1"/>
          <p:nvPr/>
        </p:nvSpPr>
        <p:spPr>
          <a:xfrm>
            <a:off x="950976" y="1691640"/>
            <a:ext cx="786384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90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Gemini</a:t>
            </a:r>
          </a:p>
        </p:txBody>
      </p:sp>
      <p:sp>
        <p:nvSpPr>
          <p:cNvPr id="125" name="Rounded Rectangle 124"/>
          <p:cNvSpPr/>
          <p:nvPr/>
        </p:nvSpPr>
        <p:spPr>
          <a:xfrm>
            <a:off x="1801368" y="1691640"/>
            <a:ext cx="1143000" cy="43891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26" name="Picture 125" descr="b-gclou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11096" y="1792224"/>
            <a:ext cx="237744" cy="237744"/>
          </a:xfrm>
          <a:prstGeom prst="rect">
            <a:avLst/>
          </a:prstGeom>
        </p:spPr>
      </p:pic>
      <p:sp>
        <p:nvSpPr>
          <p:cNvPr id="127" name="TextBox 126"/>
          <p:cNvSpPr txBox="1"/>
          <p:nvPr/>
        </p:nvSpPr>
        <p:spPr>
          <a:xfrm>
            <a:off x="2185416" y="1691640"/>
            <a:ext cx="786384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90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Vertex AI</a:t>
            </a:r>
          </a:p>
        </p:txBody>
      </p:sp>
      <p:sp>
        <p:nvSpPr>
          <p:cNvPr id="128" name="Rounded Rectangle 127"/>
          <p:cNvSpPr/>
          <p:nvPr/>
        </p:nvSpPr>
        <p:spPr>
          <a:xfrm>
            <a:off x="3218688" y="1188720"/>
            <a:ext cx="2697480" cy="169164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29" name="TextBox 128"/>
          <p:cNvSpPr txBox="1"/>
          <p:nvPr/>
        </p:nvSpPr>
        <p:spPr>
          <a:xfrm>
            <a:off x="3419856" y="1353312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50">
                <a:solidFill>
                  <a:srgbClr val="188038"/>
                </a:solidFill>
                <a:latin typeface="Google Sans Flex SemiBold"/>
                <a:ea typeface="Google Sans Flex SemiBold"/>
                <a:cs typeface="Google Sans Flex SemiBold"/>
              </a:rPr>
              <a:t>GOOGLE CLOUD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3419856" y="1691640"/>
            <a:ext cx="1143000" cy="43891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31" name="Picture 130" descr="b-gclou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9584" y="1792224"/>
            <a:ext cx="237744" cy="237744"/>
          </a:xfrm>
          <a:prstGeom prst="rect">
            <a:avLst/>
          </a:prstGeom>
        </p:spPr>
      </p:pic>
      <p:sp>
        <p:nvSpPr>
          <p:cNvPr id="132" name="TextBox 131"/>
          <p:cNvSpPr txBox="1"/>
          <p:nvPr/>
        </p:nvSpPr>
        <p:spPr>
          <a:xfrm>
            <a:off x="3803904" y="1691640"/>
            <a:ext cx="786384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90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Cloud Run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4654296" y="1691640"/>
            <a:ext cx="1143000" cy="43891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34" name="Picture 133" descr="b-gclou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4024" y="1792224"/>
            <a:ext cx="237744" cy="237744"/>
          </a:xfrm>
          <a:prstGeom prst="rect">
            <a:avLst/>
          </a:prstGeom>
        </p:spPr>
      </p:pic>
      <p:sp>
        <p:nvSpPr>
          <p:cNvPr id="135" name="TextBox 134"/>
          <p:cNvSpPr txBox="1"/>
          <p:nvPr/>
        </p:nvSpPr>
        <p:spPr>
          <a:xfrm>
            <a:off x="5038344" y="1691640"/>
            <a:ext cx="786384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85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Cloud Build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3419856" y="2240280"/>
            <a:ext cx="1143000" cy="43891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37" name="Picture 136" descr="b-gclou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9584" y="2340864"/>
            <a:ext cx="237744" cy="237744"/>
          </a:xfrm>
          <a:prstGeom prst="rect">
            <a:avLst/>
          </a:prstGeom>
        </p:spPr>
      </p:pic>
      <p:sp>
        <p:nvSpPr>
          <p:cNvPr id="138" name="TextBox 137"/>
          <p:cNvSpPr txBox="1"/>
          <p:nvPr/>
        </p:nvSpPr>
        <p:spPr>
          <a:xfrm>
            <a:off x="3803904" y="2240280"/>
            <a:ext cx="786384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85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Earth Engine</a:t>
            </a:r>
          </a:p>
        </p:txBody>
      </p:sp>
      <p:sp>
        <p:nvSpPr>
          <p:cNvPr id="139" name="Rounded Rectangle 138"/>
          <p:cNvSpPr/>
          <p:nvPr/>
        </p:nvSpPr>
        <p:spPr>
          <a:xfrm>
            <a:off x="6071616" y="1188720"/>
            <a:ext cx="2697480" cy="169164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0" name="TextBox 139"/>
          <p:cNvSpPr txBox="1"/>
          <p:nvPr/>
        </p:nvSpPr>
        <p:spPr>
          <a:xfrm>
            <a:off x="6272784" y="1353312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50">
                <a:solidFill>
                  <a:srgbClr val="188038"/>
                </a:solidFill>
                <a:latin typeface="Google Sans Flex SemiBold"/>
                <a:ea typeface="Google Sans Flex SemiBold"/>
                <a:cs typeface="Google Sans Flex SemiBold"/>
              </a:rPr>
              <a:t>GOOGLE MAPS PLATFORM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6272784" y="1691640"/>
            <a:ext cx="1143000" cy="43891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42" name="Picture 141" descr="b-map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2512" y="1792224"/>
            <a:ext cx="237744" cy="237744"/>
          </a:xfrm>
          <a:prstGeom prst="rect">
            <a:avLst/>
          </a:prstGeom>
        </p:spPr>
      </p:pic>
      <p:sp>
        <p:nvSpPr>
          <p:cNvPr id="143" name="TextBox 142"/>
          <p:cNvSpPr txBox="1"/>
          <p:nvPr/>
        </p:nvSpPr>
        <p:spPr>
          <a:xfrm>
            <a:off x="6656832" y="1691640"/>
            <a:ext cx="786384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90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Maps JS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7507224" y="1691640"/>
            <a:ext cx="1143000" cy="43891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45" name="Picture 144" descr="b-map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16952" y="1792224"/>
            <a:ext cx="237744" cy="237744"/>
          </a:xfrm>
          <a:prstGeom prst="rect">
            <a:avLst/>
          </a:prstGeom>
        </p:spPr>
      </p:pic>
      <p:sp>
        <p:nvSpPr>
          <p:cNvPr id="146" name="TextBox 145"/>
          <p:cNvSpPr txBox="1"/>
          <p:nvPr/>
        </p:nvSpPr>
        <p:spPr>
          <a:xfrm>
            <a:off x="7891272" y="1691640"/>
            <a:ext cx="786384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90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Places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6272784" y="2240280"/>
            <a:ext cx="1143000" cy="43891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48" name="Picture 147" descr="b-map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2512" y="2340864"/>
            <a:ext cx="237744" cy="237744"/>
          </a:xfrm>
          <a:prstGeom prst="rect">
            <a:avLst/>
          </a:prstGeom>
        </p:spPr>
      </p:pic>
      <p:sp>
        <p:nvSpPr>
          <p:cNvPr id="149" name="TextBox 148"/>
          <p:cNvSpPr txBox="1"/>
          <p:nvPr/>
        </p:nvSpPr>
        <p:spPr>
          <a:xfrm>
            <a:off x="6656832" y="2240280"/>
            <a:ext cx="786384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90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Map Tiles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7507224" y="2240280"/>
            <a:ext cx="1143000" cy="43891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51" name="Picture 150" descr="b-map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16952" y="2340864"/>
            <a:ext cx="237744" cy="237744"/>
          </a:xfrm>
          <a:prstGeom prst="rect">
            <a:avLst/>
          </a:prstGeom>
        </p:spPr>
      </p:pic>
      <p:sp>
        <p:nvSpPr>
          <p:cNvPr id="152" name="TextBox 151"/>
          <p:cNvSpPr txBox="1"/>
          <p:nvPr/>
        </p:nvSpPr>
        <p:spPr>
          <a:xfrm>
            <a:off x="7891272" y="2240280"/>
            <a:ext cx="786384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85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Air Quality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365760" y="3035808"/>
            <a:ext cx="2697480" cy="169164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4" name="TextBox 153"/>
          <p:cNvSpPr txBox="1"/>
          <p:nvPr/>
        </p:nvSpPr>
        <p:spPr>
          <a:xfrm>
            <a:off x="566928" y="320040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50">
                <a:solidFill>
                  <a:srgbClr val="188038"/>
                </a:solidFill>
                <a:latin typeface="Google Sans Flex SemiBold"/>
                <a:ea typeface="Google Sans Flex SemiBold"/>
                <a:cs typeface="Google Sans Flex SemiBold"/>
              </a:rPr>
              <a:t>WEB APP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566928" y="3538728"/>
            <a:ext cx="1143000" cy="43891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56" name="Picture 155" descr="b-reac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6656" y="3639312"/>
            <a:ext cx="237744" cy="237744"/>
          </a:xfrm>
          <a:prstGeom prst="rect">
            <a:avLst/>
          </a:prstGeom>
        </p:spPr>
      </p:pic>
      <p:sp>
        <p:nvSpPr>
          <p:cNvPr id="157" name="TextBox 156"/>
          <p:cNvSpPr txBox="1"/>
          <p:nvPr/>
        </p:nvSpPr>
        <p:spPr>
          <a:xfrm>
            <a:off x="950976" y="3538728"/>
            <a:ext cx="786384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90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React</a:t>
            </a:r>
          </a:p>
        </p:txBody>
      </p:sp>
      <p:sp>
        <p:nvSpPr>
          <p:cNvPr id="158" name="Rounded Rectangle 157"/>
          <p:cNvSpPr/>
          <p:nvPr/>
        </p:nvSpPr>
        <p:spPr>
          <a:xfrm>
            <a:off x="1801368" y="3538728"/>
            <a:ext cx="1143000" cy="43891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59" name="Picture 158" descr="b-thre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11096" y="3639312"/>
            <a:ext cx="237744" cy="237744"/>
          </a:xfrm>
          <a:prstGeom prst="rect">
            <a:avLst/>
          </a:prstGeom>
        </p:spPr>
      </p:pic>
      <p:sp>
        <p:nvSpPr>
          <p:cNvPr id="160" name="TextBox 159"/>
          <p:cNvSpPr txBox="1"/>
          <p:nvPr/>
        </p:nvSpPr>
        <p:spPr>
          <a:xfrm>
            <a:off x="2185416" y="3538728"/>
            <a:ext cx="786384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90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three.js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566928" y="4087368"/>
            <a:ext cx="1143000" cy="43891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62" name="Picture 161" descr="b-v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6656" y="4187952"/>
            <a:ext cx="237744" cy="237744"/>
          </a:xfrm>
          <a:prstGeom prst="rect">
            <a:avLst/>
          </a:prstGeom>
        </p:spPr>
      </p:pic>
      <p:sp>
        <p:nvSpPr>
          <p:cNvPr id="163" name="TextBox 162"/>
          <p:cNvSpPr txBox="1"/>
          <p:nvPr/>
        </p:nvSpPr>
        <p:spPr>
          <a:xfrm>
            <a:off x="950976" y="4087368"/>
            <a:ext cx="786384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90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Vite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3218688" y="3035808"/>
            <a:ext cx="2697480" cy="169164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65" name="TextBox 164"/>
          <p:cNvSpPr txBox="1"/>
          <p:nvPr/>
        </p:nvSpPr>
        <p:spPr>
          <a:xfrm>
            <a:off x="3419856" y="320040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50">
                <a:solidFill>
                  <a:srgbClr val="188038"/>
                </a:solidFill>
                <a:latin typeface="Google Sans Flex SemiBold"/>
                <a:ea typeface="Google Sans Flex SemiBold"/>
                <a:cs typeface="Google Sans Flex SemiBold"/>
              </a:rPr>
              <a:t>SERVER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3419856" y="3538728"/>
            <a:ext cx="1143000" cy="43891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67" name="Picture 166" descr="b-python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29584" y="3639312"/>
            <a:ext cx="237744" cy="237744"/>
          </a:xfrm>
          <a:prstGeom prst="rect">
            <a:avLst/>
          </a:prstGeom>
        </p:spPr>
      </p:pic>
      <p:sp>
        <p:nvSpPr>
          <p:cNvPr id="168" name="TextBox 167"/>
          <p:cNvSpPr txBox="1"/>
          <p:nvPr/>
        </p:nvSpPr>
        <p:spPr>
          <a:xfrm>
            <a:off x="3803904" y="3538728"/>
            <a:ext cx="786384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90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Python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4654296" y="3538728"/>
            <a:ext cx="1143000" cy="43891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0" name="Picture 169" descr="b-fastapi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64024" y="3639312"/>
            <a:ext cx="237744" cy="237744"/>
          </a:xfrm>
          <a:prstGeom prst="rect">
            <a:avLst/>
          </a:prstGeom>
        </p:spPr>
      </p:pic>
      <p:sp>
        <p:nvSpPr>
          <p:cNvPr id="171" name="TextBox 170"/>
          <p:cNvSpPr txBox="1"/>
          <p:nvPr/>
        </p:nvSpPr>
        <p:spPr>
          <a:xfrm>
            <a:off x="5038344" y="3538728"/>
            <a:ext cx="786384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90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FastAPI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3419856" y="4087368"/>
            <a:ext cx="1143000" cy="43891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3" name="Picture 172" descr="b-docker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529584" y="4187952"/>
            <a:ext cx="237744" cy="237744"/>
          </a:xfrm>
          <a:prstGeom prst="rect">
            <a:avLst/>
          </a:prstGeom>
        </p:spPr>
      </p:pic>
      <p:sp>
        <p:nvSpPr>
          <p:cNvPr id="174" name="TextBox 173"/>
          <p:cNvSpPr txBox="1"/>
          <p:nvPr/>
        </p:nvSpPr>
        <p:spPr>
          <a:xfrm>
            <a:off x="3803904" y="4087368"/>
            <a:ext cx="786384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90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Docker</a:t>
            </a:r>
          </a:p>
        </p:txBody>
      </p:sp>
      <p:sp>
        <p:nvSpPr>
          <p:cNvPr id="175" name="Rounded Rectangle 174"/>
          <p:cNvSpPr/>
          <p:nvPr/>
        </p:nvSpPr>
        <p:spPr>
          <a:xfrm>
            <a:off x="6071616" y="3035808"/>
            <a:ext cx="2697480" cy="169164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6" name="TextBox 175"/>
          <p:cNvSpPr txBox="1"/>
          <p:nvPr/>
        </p:nvSpPr>
        <p:spPr>
          <a:xfrm>
            <a:off x="6272784" y="320040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50">
                <a:solidFill>
                  <a:srgbClr val="188038"/>
                </a:solidFill>
                <a:latin typeface="Google Sans Flex SemiBold"/>
                <a:ea typeface="Google Sans Flex SemiBold"/>
                <a:cs typeface="Google Sans Flex SemiBold"/>
              </a:rPr>
              <a:t>OPEN DATA</a:t>
            </a:r>
          </a:p>
        </p:txBody>
      </p:sp>
      <p:sp>
        <p:nvSpPr>
          <p:cNvPr id="177" name="Rounded Rectangle 176"/>
          <p:cNvSpPr/>
          <p:nvPr/>
        </p:nvSpPr>
        <p:spPr>
          <a:xfrm>
            <a:off x="6272784" y="3538728"/>
            <a:ext cx="1143000" cy="43891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78" name="Picture 177" descr="b-osm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82512" y="3639312"/>
            <a:ext cx="237744" cy="237744"/>
          </a:xfrm>
          <a:prstGeom prst="rect">
            <a:avLst/>
          </a:prstGeom>
        </p:spPr>
      </p:pic>
      <p:sp>
        <p:nvSpPr>
          <p:cNvPr id="179" name="TextBox 178"/>
          <p:cNvSpPr txBox="1"/>
          <p:nvPr/>
        </p:nvSpPr>
        <p:spPr>
          <a:xfrm>
            <a:off x="6656832" y="3538728"/>
            <a:ext cx="786384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75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OpenStreetMap</a:t>
            </a:r>
          </a:p>
        </p:txBody>
      </p:sp>
      <p:sp>
        <p:nvSpPr>
          <p:cNvPr id="180" name="Rounded Rectangle 179"/>
          <p:cNvSpPr/>
          <p:nvPr/>
        </p:nvSpPr>
        <p:spPr>
          <a:xfrm>
            <a:off x="7507224" y="3538728"/>
            <a:ext cx="1143000" cy="43891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81" name="Picture 180" descr="glob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16952" y="3639312"/>
            <a:ext cx="237744" cy="237744"/>
          </a:xfrm>
          <a:prstGeom prst="rect">
            <a:avLst/>
          </a:prstGeom>
        </p:spPr>
      </p:pic>
      <p:sp>
        <p:nvSpPr>
          <p:cNvPr id="182" name="TextBox 181"/>
          <p:cNvSpPr txBox="1"/>
          <p:nvPr/>
        </p:nvSpPr>
        <p:spPr>
          <a:xfrm>
            <a:off x="7891272" y="3538728"/>
            <a:ext cx="786384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90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Open-Meteo</a:t>
            </a:r>
          </a:p>
        </p:txBody>
      </p:sp>
      <p:sp>
        <p:nvSpPr>
          <p:cNvPr id="183" name="Rounded Rectangle 182"/>
          <p:cNvSpPr/>
          <p:nvPr/>
        </p:nvSpPr>
        <p:spPr>
          <a:xfrm>
            <a:off x="6272784" y="4087368"/>
            <a:ext cx="1143000" cy="43891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84" name="Picture 183" descr="peopl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82512" y="4187952"/>
            <a:ext cx="237744" cy="237744"/>
          </a:xfrm>
          <a:prstGeom prst="rect">
            <a:avLst/>
          </a:prstGeom>
        </p:spPr>
      </p:pic>
      <p:sp>
        <p:nvSpPr>
          <p:cNvPr id="185" name="TextBox 184"/>
          <p:cNvSpPr txBox="1"/>
          <p:nvPr/>
        </p:nvSpPr>
        <p:spPr>
          <a:xfrm>
            <a:off x="6656832" y="4087368"/>
            <a:ext cx="786384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90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WorldPop</a:t>
            </a:r>
          </a:p>
        </p:txBody>
      </p:sp>
      <p:sp>
        <p:nvSpPr>
          <p:cNvPr id="186" name="Rounded Rectangle 185"/>
          <p:cNvSpPr/>
          <p:nvPr/>
        </p:nvSpPr>
        <p:spPr>
          <a:xfrm>
            <a:off x="7507224" y="4087368"/>
            <a:ext cx="1143000" cy="438912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pic>
        <p:nvPicPr>
          <p:cNvPr id="187" name="Picture 186" descr="leaf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616952" y="4187952"/>
            <a:ext cx="237744" cy="237744"/>
          </a:xfrm>
          <a:prstGeom prst="rect">
            <a:avLst/>
          </a:prstGeom>
        </p:spPr>
      </p:pic>
      <p:sp>
        <p:nvSpPr>
          <p:cNvPr id="188" name="TextBox 187"/>
          <p:cNvSpPr txBox="1"/>
          <p:nvPr/>
        </p:nvSpPr>
        <p:spPr>
          <a:xfrm>
            <a:off x="7891272" y="4087368"/>
            <a:ext cx="786384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90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WorldCover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2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2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2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2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Estimated implementation cost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28" name="Rounded Rectangle 127"/>
          <p:cNvSpPr/>
          <p:nvPr/>
        </p:nvSpPr>
        <p:spPr>
          <a:xfrm>
            <a:off x="365760" y="1143000"/>
            <a:ext cx="2697480" cy="3401568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29" name="TextBox 128"/>
          <p:cNvSpPr txBox="1"/>
          <p:nvPr/>
        </p:nvSpPr>
        <p:spPr>
          <a:xfrm>
            <a:off x="566928" y="1298448"/>
            <a:ext cx="23317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Build once</a:t>
            </a:r>
          </a:p>
          <a:p>
            <a:pPr algn="l">
              <a:lnSpc>
                <a:spcPct val="108000"/>
              </a:lnSpc>
            </a:pPr>
            <a:r>
              <a:rPr sz="85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Prototype to city pilot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566928" y="1938528"/>
            <a:ext cx="1600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2 developers × 3 months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2148840" y="1938528"/>
            <a:ext cx="731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90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₹7–9 L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566928" y="2368296"/>
            <a:ext cx="1600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Urban-forestry and GIS advice, part-time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2148840" y="2368296"/>
            <a:ext cx="731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90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₹1 L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566928" y="2798063"/>
            <a:ext cx="1600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Design, testing, field visits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2148840" y="2798063"/>
            <a:ext cx="731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90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₹0.5–1 L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566928" y="3822191"/>
            <a:ext cx="2295144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37" name="TextBox 136"/>
          <p:cNvSpPr txBox="1"/>
          <p:nvPr/>
        </p:nvSpPr>
        <p:spPr>
          <a:xfrm>
            <a:off x="694944" y="3822191"/>
            <a:ext cx="21031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>
                <a:solidFill>
                  <a:srgbClr val="188038"/>
                </a:solidFill>
                <a:latin typeface="Google Sans Flex SemiBold"/>
                <a:ea typeface="Google Sans Flex SemiBold"/>
                <a:cs typeface="Google Sans Flex SemiBold"/>
              </a:rPr>
              <a:t>₹8.5–11 L</a:t>
            </a:r>
            <a:r>
              <a:rPr sz="90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  one time</a:t>
            </a:r>
          </a:p>
        </p:txBody>
      </p:sp>
      <p:sp>
        <p:nvSpPr>
          <p:cNvPr id="138" name="Rounded Rectangle 137"/>
          <p:cNvSpPr/>
          <p:nvPr/>
        </p:nvSpPr>
        <p:spPr>
          <a:xfrm>
            <a:off x="3218688" y="1143000"/>
            <a:ext cx="2697480" cy="3401568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39" name="TextBox 138"/>
          <p:cNvSpPr txBox="1"/>
          <p:nvPr/>
        </p:nvSpPr>
        <p:spPr>
          <a:xfrm>
            <a:off x="3419856" y="1298448"/>
            <a:ext cx="23317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Run · pilot</a:t>
            </a:r>
          </a:p>
          <a:p>
            <a:pPr algn="l">
              <a:lnSpc>
                <a:spcPct val="108000"/>
              </a:lnSpc>
            </a:pPr>
            <a:r>
              <a:rPr sz="85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One city, ~300 AI plans and ~100 new areas a month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3419856" y="1938528"/>
            <a:ext cx="1600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Cloud Run (free tier covers most of it)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5001768" y="1938528"/>
            <a:ext cx="731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90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₹0–500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3419856" y="2368296"/>
            <a:ext cx="1600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Gemini, about ₹2 per AI plan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5001768" y="2368296"/>
            <a:ext cx="731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90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₹600–1,500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3419856" y="2798063"/>
            <a:ext cx="1600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Maps Platform, inside free monthly limits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5001768" y="2798063"/>
            <a:ext cx="731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90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₹0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419856" y="3227831"/>
            <a:ext cx="1600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Earth Engine, noncommercial civic use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5001768" y="3227831"/>
            <a:ext cx="731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90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₹0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3419856" y="3822191"/>
            <a:ext cx="2295144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9" name="TextBox 148"/>
          <p:cNvSpPr txBox="1"/>
          <p:nvPr/>
        </p:nvSpPr>
        <p:spPr>
          <a:xfrm>
            <a:off x="3547872" y="3822191"/>
            <a:ext cx="21031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>
                <a:solidFill>
                  <a:srgbClr val="188038"/>
                </a:solidFill>
                <a:latin typeface="Google Sans Flex SemiBold"/>
                <a:ea typeface="Google Sans Flex SemiBold"/>
                <a:cs typeface="Google Sans Flex SemiBold"/>
              </a:rPr>
              <a:t>₹0.6–2 K</a:t>
            </a:r>
            <a:r>
              <a:rPr sz="90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  per month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6071616" y="1143000"/>
            <a:ext cx="2697480" cy="3401568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1" name="TextBox 150"/>
          <p:cNvSpPr txBox="1"/>
          <p:nvPr/>
        </p:nvSpPr>
        <p:spPr>
          <a:xfrm>
            <a:off x="6272784" y="1298448"/>
            <a:ext cx="23317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25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Run · city scale</a:t>
            </a:r>
          </a:p>
          <a:p>
            <a:pPr algn="l">
              <a:lnSpc>
                <a:spcPct val="108000"/>
              </a:lnSpc>
            </a:pPr>
            <a:r>
              <a:rPr sz="85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~5,000 AI plans and ~30,000 visits a month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6272784" y="1938528"/>
            <a:ext cx="1600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Cloud Run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7854696" y="1938528"/>
            <a:ext cx="731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90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₹3–8 K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272784" y="2368296"/>
            <a:ext cx="1600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Gemini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7854696" y="2368296"/>
            <a:ext cx="731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90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₹10–25 K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6272784" y="2798063"/>
            <a:ext cx="1600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Maps Platform, past the free limits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7854696" y="2798063"/>
            <a:ext cx="731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90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₹25–45 K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6272784" y="3227831"/>
            <a:ext cx="1600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0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Earth Engine Basic plan ($500)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7854696" y="3227831"/>
            <a:ext cx="731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8000"/>
              </a:lnSpc>
            </a:pPr>
            <a:r>
              <a:rPr sz="90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₹48 K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6272784" y="3822191"/>
            <a:ext cx="2295144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61" name="TextBox 160"/>
          <p:cNvSpPr txBox="1"/>
          <p:nvPr/>
        </p:nvSpPr>
        <p:spPr>
          <a:xfrm>
            <a:off x="6400800" y="3822191"/>
            <a:ext cx="21031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>
                <a:solidFill>
                  <a:srgbClr val="188038"/>
                </a:solidFill>
                <a:latin typeface="Google Sans Flex SemiBold"/>
                <a:ea typeface="Google Sans Flex SemiBold"/>
                <a:cs typeface="Google Sans Flex SemiBold"/>
              </a:rPr>
              <a:t>₹0.9–1.3 L</a:t>
            </a:r>
            <a:r>
              <a:rPr sz="90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  per month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365760" y="4626864"/>
            <a:ext cx="8412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0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Estimates from Google's public price lists (Oct 2026) at ₹95 per US$. One AI plan measured at 8 Gemini calls, ~51,000 tokens in and ~2,200 out. Trees, roofs and shelters themselves are paid from each plan's own budget.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23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3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3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3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Snapshots of the prototype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pic>
        <p:nvPicPr>
          <p:cNvPr id="136" name="Picture 135" descr="4b-studio-plan-satell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760" y="1143000"/>
            <a:ext cx="4114800" cy="2571750"/>
          </a:xfrm>
          <a:prstGeom prst="rect">
            <a:avLst/>
          </a:prstGeom>
        </p:spPr>
      </p:pic>
      <p:pic>
        <p:nvPicPr>
          <p:cNvPr id="137" name="Picture 136" descr="5a-revie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63440" y="1143000"/>
            <a:ext cx="4114800" cy="2571750"/>
          </a:xfrm>
          <a:prstGeom prst="rect">
            <a:avLst/>
          </a:prstGeom>
        </p:spPr>
      </p:pic>
      <p:sp>
        <p:nvSpPr>
          <p:cNvPr id="138" name="TextBox 137"/>
          <p:cNvSpPr txBox="1"/>
          <p:nvPr/>
        </p:nvSpPr>
        <p:spPr>
          <a:xfrm>
            <a:off x="365760" y="3824478"/>
            <a:ext cx="4114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Gemini's plan on the 3D twin</a:t>
            </a:r>
          </a:p>
          <a:p>
            <a:pPr algn="l">
              <a:lnSpc>
                <a:spcPct val="108000"/>
              </a:lnSpc>
            </a:pPr>
            <a:r>
              <a:rPr sz="95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466 trees and 69 cool roofs on Lajpat Nagar's real satellite ground, with live numbers on the right.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663440" y="3824478"/>
            <a:ext cx="4114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Before and after</a:t>
            </a:r>
          </a:p>
          <a:p>
            <a:pPr algn="l">
              <a:lnSpc>
                <a:spcPct val="108000"/>
              </a:lnSpc>
            </a:pPr>
            <a:r>
              <a:rPr sz="95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Measured heat today against the same place with the plan, and the temperature at each landmark.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4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4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4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4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Prototype performance and benchmarks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44" name="Rounded Rectangle 143"/>
          <p:cNvSpPr/>
          <p:nvPr/>
        </p:nvSpPr>
        <p:spPr>
          <a:xfrm>
            <a:off x="365760" y="1188720"/>
            <a:ext cx="1554480" cy="155448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5" name="TextBox 144"/>
          <p:cNvSpPr txBox="1"/>
          <p:nvPr/>
        </p:nvSpPr>
        <p:spPr>
          <a:xfrm>
            <a:off x="530352" y="1353312"/>
            <a:ext cx="1325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>
                <a:solidFill>
                  <a:srgbClr val="188038"/>
                </a:solidFill>
                <a:latin typeface="Google Sans Flex SemiBold"/>
                <a:ea typeface="Google Sans Flex SemiBold"/>
                <a:cs typeface="Google Sans Flex SemiBold"/>
              </a:rPr>
              <a:t>4 ms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530352" y="1920240"/>
            <a:ext cx="129844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to simulate a full plan</a:t>
            </a:r>
          </a:p>
          <a:p>
            <a:pPr algn="l">
              <a:lnSpc>
                <a:spcPct val="108000"/>
              </a:lnSpc>
            </a:pPr>
            <a:r>
              <a:rPr sz="85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4,900 cells of 10 m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2039112" y="1188720"/>
            <a:ext cx="1554480" cy="155448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48" name="TextBox 147"/>
          <p:cNvSpPr txBox="1"/>
          <p:nvPr/>
        </p:nvSpPr>
        <p:spPr>
          <a:xfrm>
            <a:off x="2203704" y="1353312"/>
            <a:ext cx="1325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>
                <a:solidFill>
                  <a:srgbClr val="188038"/>
                </a:solidFill>
                <a:latin typeface="Google Sans Flex SemiBold"/>
                <a:ea typeface="Google Sans Flex SemiBold"/>
                <a:cs typeface="Google Sans Flex SemiBold"/>
              </a:rPr>
              <a:t>0.2 s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203704" y="1920240"/>
            <a:ext cx="129844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to optimise a plan</a:t>
            </a:r>
          </a:p>
          <a:p>
            <a:pPr algn="l">
              <a:lnSpc>
                <a:spcPct val="108000"/>
              </a:lnSpc>
            </a:pPr>
            <a:r>
              <a:rPr sz="85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₹20 lakh of trees and roofs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3712464" y="1188720"/>
            <a:ext cx="1554480" cy="155448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1" name="TextBox 150"/>
          <p:cNvSpPr txBox="1"/>
          <p:nvPr/>
        </p:nvSpPr>
        <p:spPr>
          <a:xfrm>
            <a:off x="3877056" y="1353312"/>
            <a:ext cx="1325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>
                <a:solidFill>
                  <a:srgbClr val="188038"/>
                </a:solidFill>
                <a:latin typeface="Google Sans Flex SemiBold"/>
                <a:ea typeface="Google Sans Flex SemiBold"/>
                <a:cs typeface="Google Sans Flex SemiBold"/>
              </a:rPr>
              <a:t>~1 min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3877056" y="1920240"/>
            <a:ext cx="129844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for Gemini to plan</a:t>
            </a:r>
          </a:p>
          <a:p>
            <a:pPr algn="l">
              <a:lnSpc>
                <a:spcPct val="108000"/>
              </a:lnSpc>
            </a:pPr>
            <a:r>
              <a:rPr sz="85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3 plans tested, 8 calls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365760" y="2880360"/>
            <a:ext cx="1554480" cy="155448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4" name="TextBox 153"/>
          <p:cNvSpPr txBox="1"/>
          <p:nvPr/>
        </p:nvSpPr>
        <p:spPr>
          <a:xfrm>
            <a:off x="530352" y="3044952"/>
            <a:ext cx="1325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>
                <a:solidFill>
                  <a:srgbClr val="188038"/>
                </a:solidFill>
                <a:latin typeface="Google Sans Flex SemiBold"/>
                <a:ea typeface="Google Sans Flex SemiBold"/>
                <a:cs typeface="Google Sans Flex SemiBold"/>
              </a:rPr>
              <a:t>10–30 s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530352" y="3611880"/>
            <a:ext cx="129844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to build a new area</a:t>
            </a:r>
          </a:p>
          <a:p>
            <a:pPr algn="l">
              <a:lnSpc>
                <a:spcPct val="108000"/>
              </a:lnSpc>
            </a:pPr>
            <a:r>
              <a:rPr sz="85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from live satellite data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2039112" y="2880360"/>
            <a:ext cx="1554480" cy="155448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7" name="TextBox 156"/>
          <p:cNvSpPr txBox="1"/>
          <p:nvPr/>
        </p:nvSpPr>
        <p:spPr>
          <a:xfrm>
            <a:off x="2203704" y="3044952"/>
            <a:ext cx="1325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>
                <a:solidFill>
                  <a:srgbClr val="188038"/>
                </a:solidFill>
                <a:latin typeface="Google Sans Flex SemiBold"/>
                <a:ea typeface="Google Sans Flex SemiBold"/>
                <a:cs typeface="Google Sans Flex SemiBold"/>
              </a:rPr>
              <a:t>158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2203704" y="3611880"/>
            <a:ext cx="129844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automated tests pass</a:t>
            </a:r>
          </a:p>
          <a:p>
            <a:pPr algn="l">
              <a:lnSpc>
                <a:spcPct val="108000"/>
              </a:lnSpc>
            </a:pPr>
            <a:r>
              <a:rPr sz="85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backend and web app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3712464" y="2880360"/>
            <a:ext cx="1554480" cy="1554480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60" name="TextBox 159"/>
          <p:cNvSpPr txBox="1"/>
          <p:nvPr/>
        </p:nvSpPr>
        <p:spPr>
          <a:xfrm>
            <a:off x="3877056" y="3044952"/>
            <a:ext cx="1325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2400">
                <a:solidFill>
                  <a:srgbClr val="188038"/>
                </a:solidFill>
                <a:latin typeface="Google Sans Flex SemiBold"/>
                <a:ea typeface="Google Sans Flex SemiBold"/>
                <a:cs typeface="Google Sans Flex SemiBold"/>
              </a:rPr>
              <a:t>0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3877056" y="3611880"/>
            <a:ext cx="1298448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950">
                <a:solidFill>
                  <a:srgbClr val="202124"/>
                </a:solidFill>
                <a:latin typeface="Google Sans Flex Medium"/>
                <a:ea typeface="Google Sans Flex Medium"/>
                <a:cs typeface="Google Sans Flex Medium"/>
              </a:rPr>
              <a:t>invented numbers</a:t>
            </a:r>
          </a:p>
          <a:p>
            <a:pPr algn="l">
              <a:lnSpc>
                <a:spcPct val="108000"/>
              </a:lnSpc>
            </a:pPr>
            <a:r>
              <a:rPr sz="85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in Gemini's answer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5486400" y="1170432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50">
                <a:solidFill>
                  <a:srgbClr val="188038"/>
                </a:solidFill>
                <a:latin typeface="Google Sans Flex SemiBold"/>
                <a:ea typeface="Google Sans Flex SemiBold"/>
                <a:cs typeface="Google Sans Flex SemiBold"/>
              </a:rPr>
              <a:t>GEMINI'S THREE OPTIONS · ₹20 LAKH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5577840" y="146304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850">
                <a:solidFill>
                  <a:srgbClr val="5F6368"/>
                </a:solidFill>
                <a:latin typeface="Google Sans Flex SemiBold"/>
                <a:ea typeface="Google Sans Flex SemiBold"/>
                <a:cs typeface="Google Sans Flex SemiBold"/>
              </a:rPr>
              <a:t>Option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6263640" y="1463040"/>
            <a:ext cx="868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850">
                <a:solidFill>
                  <a:srgbClr val="5F6368"/>
                </a:solidFill>
                <a:latin typeface="Google Sans Flex SemiBold"/>
                <a:ea typeface="Google Sans Flex SemiBold"/>
                <a:cs typeface="Google Sans Flex SemiBold"/>
              </a:rPr>
              <a:t>Trees · roofs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7178040" y="146304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850">
                <a:solidFill>
                  <a:srgbClr val="5F6368"/>
                </a:solidFill>
                <a:latin typeface="Google Sans Flex SemiBold"/>
                <a:ea typeface="Google Sans Flex SemiBold"/>
                <a:cs typeface="Google Sans Flex SemiBold"/>
              </a:rPr>
              <a:t>Market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7863840" y="1463040"/>
            <a:ext cx="960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850">
                <a:solidFill>
                  <a:srgbClr val="5F6368"/>
                </a:solidFill>
                <a:latin typeface="Google Sans Flex SemiBold"/>
                <a:ea typeface="Google Sans Flex SemiBold"/>
                <a:cs typeface="Google Sans Flex SemiBold"/>
              </a:rPr>
              <a:t>Under cool roofs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5486400" y="1847088"/>
            <a:ext cx="3291840" cy="457200"/>
          </a:xfrm>
          <a:prstGeom prst="roundRect">
            <a:avLst>
              <a:gd name="adj" fmla="val 15000"/>
            </a:avLst>
          </a:prstGeom>
          <a:solidFill>
            <a:srgbClr val="E6F4EA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68" name="TextBox 167"/>
          <p:cNvSpPr txBox="1"/>
          <p:nvPr/>
        </p:nvSpPr>
        <p:spPr>
          <a:xfrm>
            <a:off x="5577840" y="1847088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95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S1 ★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6263640" y="1847088"/>
            <a:ext cx="868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95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466 · 69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7178040" y="1847088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95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41.9°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7863840" y="1847088"/>
            <a:ext cx="960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95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497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5486400" y="2377440"/>
            <a:ext cx="3291840" cy="457200"/>
          </a:xfrm>
          <a:prstGeom prst="roundRect">
            <a:avLst>
              <a:gd name="adj" fmla="val 15000"/>
            </a:avLst>
          </a:prstGeom>
          <a:solidFill>
            <a:srgbClr val="F1F3F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3" name="TextBox 172"/>
          <p:cNvSpPr txBox="1"/>
          <p:nvPr/>
        </p:nvSpPr>
        <p:spPr>
          <a:xfrm>
            <a:off x="5577840" y="237744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95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S2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6263640" y="2377440"/>
            <a:ext cx="868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95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533 · 46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7178040" y="237744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95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41.9°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7863840" y="2377440"/>
            <a:ext cx="960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95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368</a:t>
            </a:r>
          </a:p>
        </p:txBody>
      </p:sp>
      <p:sp>
        <p:nvSpPr>
          <p:cNvPr id="177" name="Rounded Rectangle 176"/>
          <p:cNvSpPr/>
          <p:nvPr/>
        </p:nvSpPr>
        <p:spPr>
          <a:xfrm>
            <a:off x="5486400" y="2907792"/>
            <a:ext cx="3291840" cy="457200"/>
          </a:xfrm>
          <a:prstGeom prst="roundRect">
            <a:avLst>
              <a:gd name="adj" fmla="val 15000"/>
            </a:avLst>
          </a:prstGeom>
          <a:solidFill>
            <a:srgbClr val="F1F3F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8" name="TextBox 177"/>
          <p:cNvSpPr txBox="1"/>
          <p:nvPr/>
        </p:nvSpPr>
        <p:spPr>
          <a:xfrm>
            <a:off x="5577840" y="2907792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95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S3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6263640" y="2907792"/>
            <a:ext cx="8686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95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600 · 30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7178040" y="2907792"/>
            <a:ext cx="6400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95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41.8°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7863840" y="2907792"/>
            <a:ext cx="960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950">
                <a:solidFill>
                  <a:srgbClr val="202124"/>
                </a:solidFill>
                <a:latin typeface="Google Sans Flex"/>
                <a:ea typeface="Google Sans Flex"/>
                <a:cs typeface="Google Sans Flex"/>
              </a:rPr>
              <a:t>not checked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5486400" y="3511296"/>
            <a:ext cx="32918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5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★ Gemini's pick: the brief asked to protect elderly residents in dense homes, and it puts the most people under cool roofs. Market today: 42.7°.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5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5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5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25"/>
          <p:cNvSpPr txBox="1"/>
          <p:nvPr/>
        </p:nvSpPr>
        <p:spPr>
          <a:xfrm>
            <a:off x="265350" y="6638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Future development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52" name="Rounded Rectangle 151"/>
          <p:cNvSpPr/>
          <p:nvPr/>
        </p:nvSpPr>
        <p:spPr>
          <a:xfrm>
            <a:off x="365760" y="1188720"/>
            <a:ext cx="4133087" cy="1078992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3" name="Oval 152"/>
          <p:cNvSpPr/>
          <p:nvPr/>
        </p:nvSpPr>
        <p:spPr>
          <a:xfrm>
            <a:off x="566928" y="1426464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54" name="Picture 153" descr="cit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" y="1527048"/>
            <a:ext cx="256032" cy="256032"/>
          </a:xfrm>
          <a:prstGeom prst="rect">
            <a:avLst/>
          </a:prstGeom>
        </p:spPr>
      </p:pic>
      <p:sp>
        <p:nvSpPr>
          <p:cNvPr id="155" name="TextBox 154"/>
          <p:cNvSpPr txBox="1"/>
          <p:nvPr/>
        </p:nvSpPr>
        <p:spPr>
          <a:xfrm>
            <a:off x="1188720" y="1335024"/>
            <a:ext cx="31546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Pilot with a Delhi ward</a:t>
            </a:r>
          </a:p>
          <a:p>
            <a:pPr algn="l">
              <a:lnSpc>
                <a:spcPct val="108000"/>
              </a:lnSpc>
              <a:spcBef>
                <a:spcPts val="200"/>
              </a:spcBef>
            </a:pPr>
            <a:r>
              <a:rPr sz="95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Plan, plant and measure one neighbourhood with a residents' association and the municipality.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4645152" y="1188720"/>
            <a:ext cx="4133087" cy="1078992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57" name="Oval 156"/>
          <p:cNvSpPr/>
          <p:nvPr/>
        </p:nvSpPr>
        <p:spPr>
          <a:xfrm>
            <a:off x="4846320" y="1426464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58" name="Picture 157" descr="flas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46904" y="1527048"/>
            <a:ext cx="256032" cy="256032"/>
          </a:xfrm>
          <a:prstGeom prst="rect">
            <a:avLst/>
          </a:prstGeom>
        </p:spPr>
      </p:pic>
      <p:sp>
        <p:nvSpPr>
          <p:cNvPr id="159" name="TextBox 158"/>
          <p:cNvSpPr txBox="1"/>
          <p:nvPr/>
        </p:nvSpPr>
        <p:spPr>
          <a:xfrm>
            <a:off x="5468112" y="1335024"/>
            <a:ext cx="31546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Calibrate for Indian cities</a:t>
            </a:r>
          </a:p>
          <a:p>
            <a:pPr algn="l">
              <a:lnSpc>
                <a:spcPct val="108000"/>
              </a:lnSpc>
              <a:spcBef>
                <a:spcPts val="200"/>
              </a:spcBef>
            </a:pPr>
            <a:r>
              <a:rPr sz="95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Street sensors and afternoon thermal imagery to narrow today's cooling range.</a:t>
            </a:r>
          </a:p>
        </p:txBody>
      </p:sp>
      <p:sp>
        <p:nvSpPr>
          <p:cNvPr id="160" name="Rounded Rectangle 159"/>
          <p:cNvSpPr/>
          <p:nvPr/>
        </p:nvSpPr>
        <p:spPr>
          <a:xfrm>
            <a:off x="365760" y="2395728"/>
            <a:ext cx="4133087" cy="1078992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61" name="Oval 160"/>
          <p:cNvSpPr/>
          <p:nvPr/>
        </p:nvSpPr>
        <p:spPr>
          <a:xfrm>
            <a:off x="566928" y="2633472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62" name="Picture 161" descr="leaf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512" y="2734056"/>
            <a:ext cx="256032" cy="256032"/>
          </a:xfrm>
          <a:prstGeom prst="rect">
            <a:avLst/>
          </a:prstGeom>
        </p:spPr>
      </p:pic>
      <p:sp>
        <p:nvSpPr>
          <p:cNvPr id="163" name="TextBox 162"/>
          <p:cNvSpPr txBox="1"/>
          <p:nvPr/>
        </p:nvSpPr>
        <p:spPr>
          <a:xfrm>
            <a:off x="1188720" y="2542032"/>
            <a:ext cx="31546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Seasonal shade</a:t>
            </a:r>
          </a:p>
          <a:p>
            <a:pPr algn="l">
              <a:lnSpc>
                <a:spcPct val="108000"/>
              </a:lnSpc>
              <a:spcBef>
                <a:spcPts val="200"/>
              </a:spcBef>
            </a:pPr>
            <a:r>
              <a:rPr sz="95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Model leafless months for deciduous trees, using Indian growth data by species.</a:t>
            </a:r>
          </a:p>
        </p:txBody>
      </p:sp>
      <p:sp>
        <p:nvSpPr>
          <p:cNvPr id="164" name="Rounded Rectangle 163"/>
          <p:cNvSpPr/>
          <p:nvPr/>
        </p:nvSpPr>
        <p:spPr>
          <a:xfrm>
            <a:off x="4645152" y="2395728"/>
            <a:ext cx="4133087" cy="1078992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65" name="Oval 164"/>
          <p:cNvSpPr/>
          <p:nvPr/>
        </p:nvSpPr>
        <p:spPr>
          <a:xfrm>
            <a:off x="4846320" y="2633472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66" name="Picture 165" descr="sprou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46904" y="2734056"/>
            <a:ext cx="256032" cy="256032"/>
          </a:xfrm>
          <a:prstGeom prst="rect">
            <a:avLst/>
          </a:prstGeom>
        </p:spPr>
      </p:pic>
      <p:sp>
        <p:nvSpPr>
          <p:cNvPr id="167" name="TextBox 166"/>
          <p:cNvSpPr txBox="1"/>
          <p:nvPr/>
        </p:nvSpPr>
        <p:spPr>
          <a:xfrm>
            <a:off x="5468112" y="2542032"/>
            <a:ext cx="31546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Track what gets planted</a:t>
            </a:r>
          </a:p>
          <a:p>
            <a:pPr algn="l">
              <a:lnSpc>
                <a:spcPct val="108000"/>
              </a:lnSpc>
              <a:spcBef>
                <a:spcPts val="200"/>
              </a:spcBef>
            </a:pPr>
            <a:r>
              <a:rPr sz="95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Record what is installed and its survival, then compare predicted and measured heat each summer.</a:t>
            </a:r>
          </a:p>
        </p:txBody>
      </p:sp>
      <p:sp>
        <p:nvSpPr>
          <p:cNvPr id="168" name="Rounded Rectangle 167"/>
          <p:cNvSpPr/>
          <p:nvPr/>
        </p:nvSpPr>
        <p:spPr>
          <a:xfrm>
            <a:off x="365760" y="3602736"/>
            <a:ext cx="4133087" cy="1078992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69" name="Oval 168"/>
          <p:cNvSpPr/>
          <p:nvPr/>
        </p:nvSpPr>
        <p:spPr>
          <a:xfrm>
            <a:off x="566928" y="384048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70" name="Picture 169" descr="glob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7512" y="3941064"/>
            <a:ext cx="256032" cy="256032"/>
          </a:xfrm>
          <a:prstGeom prst="rect">
            <a:avLst/>
          </a:prstGeom>
        </p:spPr>
      </p:pic>
      <p:sp>
        <p:nvSpPr>
          <p:cNvPr id="171" name="TextBox 170"/>
          <p:cNvSpPr txBox="1"/>
          <p:nvPr/>
        </p:nvSpPr>
        <p:spPr>
          <a:xfrm>
            <a:off x="1188720" y="3749040"/>
            <a:ext cx="31546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More cities</a:t>
            </a:r>
          </a:p>
          <a:p>
            <a:pPr algn="l">
              <a:lnSpc>
                <a:spcPct val="108000"/>
              </a:lnSpc>
              <a:spcBef>
                <a:spcPts val="200"/>
              </a:spcBef>
            </a:pPr>
            <a:r>
              <a:rPr sz="95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Ready wherever Open Buildings has data: South and Southeast Asia, Africa and Latin America.</a:t>
            </a:r>
          </a:p>
        </p:txBody>
      </p:sp>
      <p:sp>
        <p:nvSpPr>
          <p:cNvPr id="172" name="Rounded Rectangle 171"/>
          <p:cNvSpPr/>
          <p:nvPr/>
        </p:nvSpPr>
        <p:spPr>
          <a:xfrm>
            <a:off x="4645152" y="3602736"/>
            <a:ext cx="4133087" cy="1078992"/>
          </a:xfrm>
          <a:prstGeom prst="roundRect">
            <a:avLst>
              <a:gd name="adj" fmla="val 8000"/>
            </a:avLst>
          </a:prstGeom>
          <a:solidFill>
            <a:srgbClr val="F1F3F4"/>
          </a:solidFill>
          <a:ln>
            <a:noFill/>
          </a:ln>
          <a:effectLst/>
        </p:spPr>
        <p:txBody>
          <a:bodyPr rtlCol="0" anchor="ctr"/>
          <a:lstStyle/>
          <a:p/>
        </p:txBody>
      </p:sp>
      <p:sp>
        <p:nvSpPr>
          <p:cNvPr id="173" name="Oval 172"/>
          <p:cNvSpPr/>
          <p:nvPr/>
        </p:nvSpPr>
        <p:spPr>
          <a:xfrm>
            <a:off x="4846320" y="384048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74" name="Picture 173" descr="phon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46904" y="3941064"/>
            <a:ext cx="256032" cy="256032"/>
          </a:xfrm>
          <a:prstGeom prst="rect">
            <a:avLst/>
          </a:prstGeom>
        </p:spPr>
      </p:pic>
      <p:sp>
        <p:nvSpPr>
          <p:cNvPr id="175" name="TextBox 174"/>
          <p:cNvSpPr txBox="1"/>
          <p:nvPr/>
        </p:nvSpPr>
        <p:spPr>
          <a:xfrm>
            <a:off x="5468112" y="3749040"/>
            <a:ext cx="315468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</a:pPr>
            <a:r>
              <a:rPr sz="1150">
                <a:solidFill>
                  <a:srgbClr val="202124"/>
                </a:solidFill>
                <a:latin typeface="Google Sans Flex SemiBold"/>
                <a:ea typeface="Google Sans Flex SemiBold"/>
                <a:cs typeface="Google Sans Flex SemiBold"/>
              </a:rPr>
              <a:t>Mobile and local languages</a:t>
            </a:r>
          </a:p>
          <a:p>
            <a:pPr algn="l">
              <a:lnSpc>
                <a:spcPct val="108000"/>
              </a:lnSpc>
              <a:spcBef>
                <a:spcPts val="200"/>
              </a:spcBef>
            </a:pPr>
            <a:r>
              <a:rPr sz="95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</a:rPr>
              <a:t>A mobile app for field teams, with Hindi and regional languages.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6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6" title="Group 42731997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"/>
            <a:ext cx="9144000" cy="507359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6"/>
          <p:cNvSpPr/>
          <p:nvPr/>
        </p:nvSpPr>
        <p:spPr>
          <a:xfrm>
            <a:off x="-29250" y="5071875"/>
            <a:ext cx="91734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6"/>
          <p:cNvSpPr txBox="1"/>
          <p:nvPr/>
        </p:nvSpPr>
        <p:spPr>
          <a:xfrm>
            <a:off x="265350" y="663825"/>
            <a:ext cx="8943000" cy="13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Google Sans Flex Medium"/>
                <a:ea typeface="Google Sans Flex Medium"/>
                <a:cs typeface="Google Sans Flex Medium"/>
                <a:sym typeface="Google Sans Flex Medium"/>
              </a:rPr>
              <a:t>Links</a:t>
            </a:r>
            <a:endParaRPr sz="1600">
              <a:latin typeface="Google Sans Flex Medium"/>
              <a:ea typeface="Google Sans Flex Medium"/>
              <a:cs typeface="Google Sans Flex Medium"/>
              <a:sym typeface="Google Sans Flex Medium"/>
            </a:endParaRPr>
          </a:p>
        </p:txBody>
      </p:sp>
      <p:sp>
        <p:nvSpPr>
          <p:cNvPr id="1147" name="Text 1147"/>
          <p:cNvSpPr txBox="1"/>
          <p:nvPr/>
        </p:nvSpPr>
        <p:spPr>
          <a:xfrm>
            <a:off x="365760" y="1280160"/>
            <a:ext cx="8412480" cy="777240"/>
          </a:xfrm>
          <a:prstGeom prst="roundRect">
            <a:avLst>
              <a:gd name="adj" fmla="val 7000"/>
            </a:avLst>
          </a:prstGeom>
          <a:solidFill>
            <a:srgbClr val="F1F3F4"/>
          </a:solidFill>
          <a:ln>
            <a:noFill/>
          </a:ln>
        </p:spPr>
        <p:txBody>
          <a:bodyPr wrap="square" lIns="146304" tIns="146304" rIns="146304" bIns="146304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100" dirty="0">
                <a:solidFill>
                  <a:srgbClr val="5F6368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GitHub Public Repository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  <a:sym typeface="Google Sans Flex"/>
                <a:hlinkClick r:id="rId5"/>
              </a:rPr>
              <a:t>github.com/lohiyakeshav/LeafIt</a:t>
            </a:r>
          </a:p>
        </p:txBody>
      </p:sp>
      <p:sp>
        <p:nvSpPr>
          <p:cNvPr id="1148" name="Text 1148"/>
          <p:cNvSpPr txBox="1"/>
          <p:nvPr/>
        </p:nvSpPr>
        <p:spPr>
          <a:xfrm>
            <a:off x="365760" y="2194560"/>
            <a:ext cx="8412480" cy="777240"/>
          </a:xfrm>
          <a:prstGeom prst="roundRect">
            <a:avLst>
              <a:gd name="adj" fmla="val 7000"/>
            </a:avLst>
          </a:prstGeom>
          <a:solidFill>
            <a:srgbClr val="F1F3F4"/>
          </a:solidFill>
          <a:ln>
            <a:noFill/>
          </a:ln>
        </p:spPr>
        <p:txBody>
          <a:bodyPr wrap="square" lIns="146304" tIns="146304" rIns="146304" bIns="146304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100" dirty="0">
                <a:solidFill>
                  <a:srgbClr val="5F6368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Demo Video Link (3 Minutes)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solidFill>
                  <a:srgbClr val="5F6368"/>
                </a:solidFill>
                <a:latin typeface="Google Sans Flex"/>
                <a:ea typeface="Google Sans Flex"/>
                <a:cs typeface="Google Sans Flex"/>
                <a:sym typeface="Google Sans Flex"/>
              </a:rPr>
              <a:t>To be added</a:t>
            </a:r>
          </a:p>
        </p:txBody>
      </p:sp>
      <p:sp>
        <p:nvSpPr>
          <p:cNvPr id="1149" name="Text 1149"/>
          <p:cNvSpPr txBox="1"/>
          <p:nvPr/>
        </p:nvSpPr>
        <p:spPr>
          <a:xfrm>
            <a:off x="365760" y="3108960"/>
            <a:ext cx="8412480" cy="777240"/>
          </a:xfrm>
          <a:prstGeom prst="roundRect">
            <a:avLst>
              <a:gd name="adj" fmla="val 7000"/>
            </a:avLst>
          </a:prstGeom>
          <a:solidFill>
            <a:srgbClr val="F1F3F4"/>
          </a:solidFill>
          <a:ln>
            <a:noFill/>
          </a:ln>
        </p:spPr>
        <p:txBody>
          <a:bodyPr wrap="square" lIns="146304" tIns="146304" rIns="146304" bIns="146304" anchor="ctr">
            <a:noAutofit/>
          </a:bodyPr>
          <a:lstStyle/>
          <a:p>
            <a:pPr marL="0" indent="0" algn="l">
              <a:spcBef>
                <a:spcPts val="0"/>
              </a:spcBef>
              <a:spcAft>
                <a:spcPts val="400"/>
              </a:spcAft>
              <a:buNone/>
            </a:pPr>
            <a:r>
              <a:rPr lang="en-GB" sz="1100" dirty="0">
                <a:solidFill>
                  <a:srgbClr val="5F6368"/>
                </a:solidFill>
                <a:latin typeface="Google Sans Flex SemiBold"/>
                <a:ea typeface="Google Sans Flex SemiBold"/>
                <a:cs typeface="Google Sans Flex SemiBold"/>
                <a:sym typeface="Google Sans Flex SemiBold"/>
              </a:rPr>
              <a:t>Final Product Link</a:t>
            </a:r>
          </a:p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dirty="0">
                <a:solidFill>
                  <a:srgbClr val="1A73E8"/>
                </a:solidFill>
                <a:latin typeface="Google Sans Flex"/>
                <a:ea typeface="Google Sans Flex"/>
                <a:cs typeface="Google Sans Flex"/>
                <a:sym typeface="Google Sans Flex"/>
                <a:hlinkClick r:id="rId6"/>
              </a:rPr>
              <a:t>leafit.cloud.run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8" title="Frame 144.png"/>
          <p:cNvPicPr preferRelativeResize="0"/>
          <p:nvPr/>
        </p:nvPicPr>
        <p:blipFill rotWithShape="1">
          <a:blip r:embed="rId3">
            <a:alphaModFix/>
          </a:blip>
          <a:srcRect b="98001" l="0" r="0" t="0"/>
          <a:stretch/>
        </p:blipFill>
        <p:spPr>
          <a:xfrm>
            <a:off x="0" y="5093562"/>
            <a:ext cx="9144000" cy="5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8" title="Frame 14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0" cy="5143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